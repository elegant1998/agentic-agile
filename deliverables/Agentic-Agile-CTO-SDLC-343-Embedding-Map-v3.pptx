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35"/>
  </p:normalViewPr>
  <p:slideViewPr>
    <p:cSldViewPr snapToGrid="0">
      <p:cViewPr varScale="1">
        <p:scale>
          <a:sx n="115" d="100"/>
          <a:sy n="115" d="100"/>
        </p:scale>
        <p:origin x="37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  <a:p>
            <a:r>
              <a:t>[Sources]</a:t>
            </a:r>
          </a:p>
          <a:p>
            <a:r>
              <a:t>- Agentic Agile Book, Chapter 5: 3-4-3, four dynamic governance artifacts, and SCOPE-V.</a:t>
            </a:r>
          </a:p>
          <a:p>
            <a:r>
              <a:t>- Agentic Agile Book, Chapter 25: IWE, Document Map and Code Map for trusted task context.</a:t>
            </a:r>
          </a:p>
          <a:p>
            <a:r>
              <a:t>- Agentic Agile Book, Chapter 26: Basic Memory and evidence-gated learning promotion.</a:t>
            </a:r>
          </a:p>
          <a:p>
            <a:endParaRPr/>
          </a:p>
          <a:p>
            <a:r>
              <a:t>[Presenter Notes]</a:t>
            </a:r>
          </a:p>
          <a:p>
            <a:r>
              <a:t>- Read the slide from top to bottom: the SDLC value stream is the common operational surface; the four cards show where the three autonomy mechanisms appear.</a:t>
            </a:r>
          </a:p>
          <a:p>
            <a:r>
              <a:t>- The four rails make 3-4-3 concrete: people and organization own decisions; SCOPE-V governs the operating flow; the four artifacts and supporting tools carry facts, constraints and learning.</a:t>
            </a:r>
          </a:p>
          <a:p>
            <a:r>
              <a:t>- Success is not code volume. Use comparable work, the same risk boundary, and Contract/Evidence/Telemetry to prove shorter end-to-end lead time without quality or control regression.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title">
            <a:extLst>
              <a:ext uri="{FF2B5EF4-FFF2-40B4-BE49-F238E27FC236}">
                <a16:creationId xmlns:a16="http://schemas.microsoft.com/office/drawing/2014/main" id="{A77F0148-2AFC-4761-B993-1A068A167589}"/>
              </a:ext>
            </a:extLst>
          </p:cNvPr>
          <p:cNvSpPr>
            <a:spLocks noGrp="1"/>
          </p:cNvSpPr>
          <p:nvPr/>
        </p:nvSpPr>
        <p:spPr>
          <a:xfrm>
            <a:off x="590550" y="266700"/>
            <a:ext cx="110109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2550" b="1">
                <a:solidFill>
                  <a:srgbClr val="0B12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0B1220"/>
                </a:solidFill>
                <a:latin typeface="Helvetica Neue"/>
                <a:ea typeface="Helvetica Neue"/>
                <a:cs typeface="Helvetica Neue"/>
              </a:rPr>
              <a:t>把 3-4-3 嵌入 SDLC：三大自治沿价值流递进</a:t>
            </a:r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7CAC6857-3AB9-4281-8C96-E979CFA24EDD}"/>
              </a:ext>
            </a:extLst>
          </p:cNvPr>
          <p:cNvSpPr>
            <a:spLocks noGrp="1"/>
          </p:cNvSpPr>
          <p:nvPr/>
        </p:nvSpPr>
        <p:spPr>
          <a:xfrm>
            <a:off x="609600" y="723900"/>
            <a:ext cx="9906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350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rPr>
              <a:t>从客户需求提出到对外发布，3 个角色、4 大工件、3 大自治机制与 SCOPE-V 同步嵌入。</a:t>
            </a:r>
          </a:p>
        </p:txBody>
      </p:sp>
      <p:sp>
        <p:nvSpPr>
          <p:cNvPr id="3" name="thesis">
            <a:extLst>
              <a:ext uri="{FF2B5EF4-FFF2-40B4-BE49-F238E27FC236}">
                <a16:creationId xmlns:a16="http://schemas.microsoft.com/office/drawing/2014/main" id="{08177534-83B5-4FAC-A3F7-69AEE1CB2F35}"/>
              </a:ext>
            </a:extLst>
          </p:cNvPr>
          <p:cNvSpPr>
            <a:spLocks noGrp="1"/>
          </p:cNvSpPr>
          <p:nvPr/>
        </p:nvSpPr>
        <p:spPr>
          <a:xfrm>
            <a:off x="590550" y="1066800"/>
            <a:ext cx="11010900" cy="323850"/>
          </a:xfrm>
          <a:prstGeom prst="roundRect">
            <a:avLst>
              <a:gd name="adj" fmla="val 17647"/>
            </a:avLst>
          </a:prstGeom>
          <a:solidFill>
            <a:srgbClr val="10243E"/>
          </a:solidFill>
          <a:ln w="9525">
            <a:solidFill>
              <a:srgbClr val="10243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hesis-text">
            <a:extLst>
              <a:ext uri="{FF2B5EF4-FFF2-40B4-BE49-F238E27FC236}">
                <a16:creationId xmlns:a16="http://schemas.microsoft.com/office/drawing/2014/main" id="{B3A87EA2-E71A-404E-846C-5FFD78A58733}"/>
              </a:ext>
            </a:extLst>
          </p:cNvPr>
          <p:cNvSpPr>
            <a:spLocks noGrp="1"/>
          </p:cNvSpPr>
          <p:nvPr/>
        </p:nvSpPr>
        <p:spPr>
          <a:xfrm>
            <a:off x="781050" y="1143000"/>
            <a:ext cx="106203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价值流：客户需求 → 需求澄清 → 需求定义 → 架构设计 → 编码 → SIT → 集成测试 → 对外发布</a:t>
            </a:r>
          </a:p>
        </p:txBody>
      </p:sp>
      <p:sp>
        <p:nvSpPr>
          <p:cNvPr id="5" name="flow-arrow-1">
            <a:extLst>
              <a:ext uri="{FF2B5EF4-FFF2-40B4-BE49-F238E27FC236}">
                <a16:creationId xmlns:a16="http://schemas.microsoft.com/office/drawing/2014/main" id="{36BD5434-D569-40D6-9EFA-7F41FCF1C0A9}"/>
              </a:ext>
            </a:extLst>
          </p:cNvPr>
          <p:cNvSpPr>
            <a:spLocks noGrp="1"/>
          </p:cNvSpPr>
          <p:nvPr/>
        </p:nvSpPr>
        <p:spPr>
          <a:xfrm>
            <a:off x="3219450" y="2190750"/>
            <a:ext cx="304800" cy="0"/>
          </a:xfrm>
          <a:prstGeom prst="line">
            <a:avLst/>
          </a:prstGeom>
          <a:noFill/>
          <a:ln w="19050">
            <a:solidFill>
              <a:srgbClr val="167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flow-arrow-2">
            <a:extLst>
              <a:ext uri="{FF2B5EF4-FFF2-40B4-BE49-F238E27FC236}">
                <a16:creationId xmlns:a16="http://schemas.microsoft.com/office/drawing/2014/main" id="{7C159A60-4C01-4369-ACA9-42B33E4E62A7}"/>
              </a:ext>
            </a:extLst>
          </p:cNvPr>
          <p:cNvSpPr>
            <a:spLocks noGrp="1"/>
          </p:cNvSpPr>
          <p:nvPr/>
        </p:nvSpPr>
        <p:spPr>
          <a:xfrm>
            <a:off x="5867400" y="2190750"/>
            <a:ext cx="304800" cy="0"/>
          </a:xfrm>
          <a:prstGeom prst="line">
            <a:avLst/>
          </a:prstGeom>
          <a:noFill/>
          <a:ln w="19050">
            <a:solidFill>
              <a:srgbClr val="167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flow-arrow-3">
            <a:extLst>
              <a:ext uri="{FF2B5EF4-FFF2-40B4-BE49-F238E27FC236}">
                <a16:creationId xmlns:a16="http://schemas.microsoft.com/office/drawing/2014/main" id="{493353BB-5DA0-4A16-9748-21260CBE0DDC}"/>
              </a:ext>
            </a:extLst>
          </p:cNvPr>
          <p:cNvSpPr>
            <a:spLocks noGrp="1"/>
          </p:cNvSpPr>
          <p:nvPr/>
        </p:nvSpPr>
        <p:spPr>
          <a:xfrm>
            <a:off x="8515350" y="2190750"/>
            <a:ext cx="304800" cy="0"/>
          </a:xfrm>
          <a:prstGeom prst="line">
            <a:avLst/>
          </a:prstGeom>
          <a:noFill/>
          <a:ln w="19050">
            <a:solidFill>
              <a:srgbClr val="167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phase-选对价值流">
            <a:extLst>
              <a:ext uri="{FF2B5EF4-FFF2-40B4-BE49-F238E27FC236}">
                <a16:creationId xmlns:a16="http://schemas.microsoft.com/office/drawing/2014/main" id="{860848E6-B8D9-4E5A-82D3-BC0409AA6EF7}"/>
              </a:ext>
            </a:extLst>
          </p:cNvPr>
          <p:cNvSpPr>
            <a:spLocks noGrp="1"/>
          </p:cNvSpPr>
          <p:nvPr/>
        </p:nvSpPr>
        <p:spPr>
          <a:xfrm>
            <a:off x="590550" y="1562100"/>
            <a:ext cx="2457450" cy="1257300"/>
          </a:xfrm>
          <a:prstGeom prst="roundRect">
            <a:avLst>
              <a:gd name="adj" fmla="val 9091"/>
            </a:avLst>
          </a:prstGeom>
          <a:solidFill>
            <a:srgbClr val="FFF4E8"/>
          </a:solidFill>
          <a:ln w="9525">
            <a:solidFill>
              <a:srgbClr val="B968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phase-time-选对价值流">
            <a:extLst>
              <a:ext uri="{FF2B5EF4-FFF2-40B4-BE49-F238E27FC236}">
                <a16:creationId xmlns:a16="http://schemas.microsoft.com/office/drawing/2014/main" id="{9A4261FE-4546-4A12-A1BA-1FFBB45A8FB7}"/>
              </a:ext>
            </a:extLst>
          </p:cNvPr>
          <p:cNvSpPr>
            <a:spLocks noGrp="1"/>
          </p:cNvSpPr>
          <p:nvPr/>
        </p:nvSpPr>
        <p:spPr>
          <a:xfrm>
            <a:off x="762000" y="1685925"/>
            <a:ext cx="704850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125" b="1">
                <a:solidFill>
                  <a:srgbClr val="B968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B96800"/>
                </a:solidFill>
                <a:latin typeface="Helvetica Neue"/>
                <a:ea typeface="Helvetica Neue"/>
                <a:cs typeface="Helvetica Neue"/>
              </a:rPr>
              <a:t>意图注入</a:t>
            </a:r>
          </a:p>
        </p:txBody>
      </p:sp>
      <p:sp>
        <p:nvSpPr>
          <p:cNvPr id="10" name="phase-title-选对价值流">
            <a:extLst>
              <a:ext uri="{FF2B5EF4-FFF2-40B4-BE49-F238E27FC236}">
                <a16:creationId xmlns:a16="http://schemas.microsoft.com/office/drawing/2014/main" id="{A6137810-380E-4030-9AF0-842DBD1EA840}"/>
              </a:ext>
            </a:extLst>
          </p:cNvPr>
          <p:cNvSpPr>
            <a:spLocks noGrp="1"/>
          </p:cNvSpPr>
          <p:nvPr/>
        </p:nvSpPr>
        <p:spPr>
          <a:xfrm>
            <a:off x="762000" y="1943100"/>
            <a:ext cx="20955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650" b="1">
                <a:solidFill>
                  <a:srgbClr val="0B12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B1220"/>
                </a:solidFill>
                <a:latin typeface="Helvetica Neue"/>
                <a:ea typeface="Helvetica Neue"/>
                <a:cs typeface="Helvetica Neue"/>
              </a:rPr>
              <a:t>客户需求 → 澄清</a:t>
            </a:r>
          </a:p>
        </p:txBody>
      </p:sp>
      <p:sp>
        <p:nvSpPr>
          <p:cNvPr id="11" name="phase-body-选对价值流">
            <a:extLst>
              <a:ext uri="{FF2B5EF4-FFF2-40B4-BE49-F238E27FC236}">
                <a16:creationId xmlns:a16="http://schemas.microsoft.com/office/drawing/2014/main" id="{53D43623-C41C-4E0A-B09D-0B6270929349}"/>
              </a:ext>
            </a:extLst>
          </p:cNvPr>
          <p:cNvSpPr>
            <a:spLocks noGrp="1"/>
          </p:cNvSpPr>
          <p:nvPr/>
        </p:nvSpPr>
        <p:spPr>
          <a:xfrm>
            <a:off x="762000" y="2266950"/>
            <a:ext cx="2095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9412" lnSpcReduction="10000"/>
          </a:bodyPr>
          <a:lstStyle/>
          <a:p>
            <a:pPr algn="l">
              <a:buNone/>
              <a:defRPr sz="1088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88" b="0" dirty="0">
                <a:solidFill>
                  <a:srgbClr val="425466"/>
                </a:solidFill>
                <a:highlight>
                  <a:srgbClr val="FFFF00"/>
                </a:highlight>
                <a:latin typeface="Helvetica Neue"/>
                <a:ea typeface="Helvetica Neue"/>
                <a:cs typeface="Helvetica Neue"/>
              </a:rPr>
              <a:t>IO</a:t>
            </a:r>
            <a:r>
              <a:rPr sz="1088" b="0" dirty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rPr>
              <a:t> + </a:t>
            </a:r>
            <a:r>
              <a:rPr sz="1088" b="0" dirty="0" err="1">
                <a:solidFill>
                  <a:srgbClr val="425466"/>
                </a:solidFill>
                <a:latin typeface="Helvetica Neue"/>
                <a:ea typeface="Helvetica Neue"/>
                <a:cs typeface="Helvetica Neue"/>
              </a:rPr>
              <a:t>Owner：目标</a:t>
            </a:r>
            <a:r>
              <a:rPr sz="1088" b="0" dirty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rPr>
              <a:t> / </a:t>
            </a:r>
            <a:r>
              <a:rPr sz="1088" b="0" dirty="0" err="1">
                <a:solidFill>
                  <a:srgbClr val="425466"/>
                </a:solidFill>
                <a:latin typeface="Helvetica Neue"/>
                <a:ea typeface="Helvetica Neue"/>
                <a:cs typeface="Helvetica Neue"/>
              </a:rPr>
              <a:t>护栏</a:t>
            </a:r>
            <a:endParaRPr sz="1088" b="0" dirty="0">
              <a:solidFill>
                <a:srgbClr val="425466"/>
              </a:solidFill>
              <a:latin typeface="Helvetica Neue"/>
              <a:ea typeface="Helvetica Neue"/>
              <a:cs typeface="Helvetica Neue"/>
            </a:endParaRPr>
          </a:p>
          <a:p>
            <a:pPr algn="l">
              <a:buNone/>
              <a:defRPr sz="1088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88" b="0" dirty="0" err="1">
                <a:solidFill>
                  <a:srgbClr val="425466"/>
                </a:solidFill>
                <a:highlight>
                  <a:srgbClr val="00FFFF"/>
                </a:highlight>
                <a:latin typeface="Helvetica Neue"/>
                <a:ea typeface="Helvetica Neue"/>
                <a:cs typeface="Helvetica Neue"/>
              </a:rPr>
              <a:t>SCOPE-V</a:t>
            </a:r>
            <a:r>
              <a:rPr sz="1088" b="0" dirty="0" err="1">
                <a:solidFill>
                  <a:srgbClr val="425466"/>
                </a:solidFill>
                <a:latin typeface="Helvetica Neue"/>
                <a:ea typeface="Helvetica Neue"/>
                <a:cs typeface="Helvetica Neue"/>
              </a:rPr>
              <a:t>：Specify</a:t>
            </a:r>
            <a:endParaRPr sz="1088" b="0" dirty="0">
              <a:solidFill>
                <a:srgbClr val="425466"/>
              </a:solidFill>
              <a:latin typeface="Helvetica Neue"/>
              <a:ea typeface="Helvetica Neue"/>
              <a:cs typeface="Helvetica Neue"/>
            </a:endParaRPr>
          </a:p>
          <a:p>
            <a:pPr algn="l">
              <a:buNone/>
              <a:defRPr sz="1088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88" b="0" dirty="0">
                <a:solidFill>
                  <a:srgbClr val="425466"/>
                </a:solidFill>
                <a:highlight>
                  <a:srgbClr val="00FF00"/>
                </a:highlight>
                <a:latin typeface="Helvetica Neue"/>
                <a:ea typeface="Helvetica Neue"/>
                <a:cs typeface="Helvetica Neue"/>
              </a:rPr>
              <a:t>Intent Graph</a:t>
            </a:r>
            <a:r>
              <a:rPr sz="1088" b="0" dirty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rPr>
              <a:t> + IWE</a:t>
            </a:r>
          </a:p>
        </p:txBody>
      </p:sp>
      <p:sp>
        <p:nvSpPr>
          <p:cNvPr id="12" name="phase-跑通受控闭环">
            <a:extLst>
              <a:ext uri="{FF2B5EF4-FFF2-40B4-BE49-F238E27FC236}">
                <a16:creationId xmlns:a16="http://schemas.microsoft.com/office/drawing/2014/main" id="{0C635379-B86D-44FA-ADAE-361A3546A2CB}"/>
              </a:ext>
            </a:extLst>
          </p:cNvPr>
          <p:cNvSpPr>
            <a:spLocks noGrp="1"/>
          </p:cNvSpPr>
          <p:nvPr/>
        </p:nvSpPr>
        <p:spPr>
          <a:xfrm>
            <a:off x="3238500" y="1562100"/>
            <a:ext cx="2457450" cy="1257300"/>
          </a:xfrm>
          <a:prstGeom prst="roundRect">
            <a:avLst>
              <a:gd name="adj" fmla="val 9091"/>
            </a:avLst>
          </a:prstGeom>
          <a:solidFill>
            <a:srgbClr val="EAF4FF"/>
          </a:solidFill>
          <a:ln w="9525">
            <a:solidFill>
              <a:srgbClr val="167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phase-time-跑通受控闭环">
            <a:extLst>
              <a:ext uri="{FF2B5EF4-FFF2-40B4-BE49-F238E27FC236}">
                <a16:creationId xmlns:a16="http://schemas.microsoft.com/office/drawing/2014/main" id="{F91B9D37-07C3-4658-BAD1-F86084BF075B}"/>
              </a:ext>
            </a:extLst>
          </p:cNvPr>
          <p:cNvSpPr>
            <a:spLocks noGrp="1"/>
          </p:cNvSpPr>
          <p:nvPr/>
        </p:nvSpPr>
        <p:spPr>
          <a:xfrm>
            <a:off x="3409950" y="1685925"/>
            <a:ext cx="704850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125" b="1">
                <a:solidFill>
                  <a:srgbClr val="1677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677FF"/>
                </a:solidFill>
                <a:latin typeface="Helvetica Neue"/>
                <a:ea typeface="Helvetica Neue"/>
                <a:cs typeface="Helvetica Neue"/>
              </a:rPr>
              <a:t>意图注入</a:t>
            </a:r>
          </a:p>
        </p:txBody>
      </p:sp>
      <p:sp>
        <p:nvSpPr>
          <p:cNvPr id="14" name="phase-title-跑通受控闭环">
            <a:extLst>
              <a:ext uri="{FF2B5EF4-FFF2-40B4-BE49-F238E27FC236}">
                <a16:creationId xmlns:a16="http://schemas.microsoft.com/office/drawing/2014/main" id="{13676E43-9C6C-496F-9512-8466E0BD1746}"/>
              </a:ext>
            </a:extLst>
          </p:cNvPr>
          <p:cNvSpPr>
            <a:spLocks noGrp="1"/>
          </p:cNvSpPr>
          <p:nvPr/>
        </p:nvSpPr>
        <p:spPr>
          <a:xfrm>
            <a:off x="3409950" y="1943100"/>
            <a:ext cx="20955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650" b="1">
                <a:solidFill>
                  <a:srgbClr val="0B12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B1220"/>
                </a:solidFill>
                <a:latin typeface="Helvetica Neue"/>
                <a:ea typeface="Helvetica Neue"/>
                <a:cs typeface="Helvetica Neue"/>
              </a:rPr>
              <a:t>定义 → 架构</a:t>
            </a:r>
          </a:p>
        </p:txBody>
      </p:sp>
      <p:sp>
        <p:nvSpPr>
          <p:cNvPr id="15" name="phase-body-跑通受控闭环">
            <a:extLst>
              <a:ext uri="{FF2B5EF4-FFF2-40B4-BE49-F238E27FC236}">
                <a16:creationId xmlns:a16="http://schemas.microsoft.com/office/drawing/2014/main" id="{35F4C2B5-EF10-4ABD-9072-42ABA055E07B}"/>
              </a:ext>
            </a:extLst>
          </p:cNvPr>
          <p:cNvSpPr>
            <a:spLocks noGrp="1"/>
          </p:cNvSpPr>
          <p:nvPr/>
        </p:nvSpPr>
        <p:spPr>
          <a:xfrm>
            <a:off x="3409950" y="2266950"/>
            <a:ext cx="2286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1912"/>
          </a:bodyPr>
          <a:lstStyle/>
          <a:p>
            <a:pPr algn="l">
              <a:buNone/>
              <a:defRPr sz="1088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88" b="0" dirty="0" err="1">
                <a:solidFill>
                  <a:srgbClr val="425466"/>
                </a:solidFill>
                <a:highlight>
                  <a:srgbClr val="FFFF00"/>
                </a:highlight>
                <a:latin typeface="Helvetica Neue"/>
                <a:ea typeface="Helvetica Neue"/>
                <a:cs typeface="Helvetica Neue"/>
              </a:rPr>
              <a:t>IO</a:t>
            </a:r>
            <a:r>
              <a:rPr sz="1088" b="0" dirty="0" err="1">
                <a:solidFill>
                  <a:srgbClr val="425466"/>
                </a:solidFill>
                <a:latin typeface="Helvetica Neue"/>
                <a:ea typeface="Helvetica Neue"/>
                <a:cs typeface="Helvetica Neue"/>
              </a:rPr>
              <a:t>：Contract</a:t>
            </a:r>
            <a:r>
              <a:rPr sz="1088" b="0" dirty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rPr>
              <a:t> / </a:t>
            </a:r>
            <a:r>
              <a:rPr sz="1088" b="0" dirty="0" err="1">
                <a:solidFill>
                  <a:srgbClr val="425466"/>
                </a:solidFill>
                <a:latin typeface="Helvetica Neue"/>
                <a:ea typeface="Helvetica Neue"/>
                <a:cs typeface="Helvetica Neue"/>
              </a:rPr>
              <a:t>AC；OA：约束</a:t>
            </a:r>
            <a:endParaRPr sz="1088" b="0" dirty="0">
              <a:solidFill>
                <a:srgbClr val="425466"/>
              </a:solidFill>
              <a:latin typeface="Helvetica Neue"/>
              <a:ea typeface="Helvetica Neue"/>
              <a:cs typeface="Helvetica Neue"/>
            </a:endParaRPr>
          </a:p>
          <a:p>
            <a:pPr algn="l">
              <a:buNone/>
              <a:defRPr sz="1088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88" b="0" dirty="0" err="1">
                <a:solidFill>
                  <a:srgbClr val="425466"/>
                </a:solidFill>
                <a:highlight>
                  <a:srgbClr val="00FFFF"/>
                </a:highlight>
                <a:latin typeface="Helvetica Neue"/>
                <a:ea typeface="Helvetica Neue"/>
                <a:cs typeface="Helvetica Neue"/>
              </a:rPr>
              <a:t>SCOPE-V：</a:t>
            </a:r>
            <a:r>
              <a:rPr sz="1088" b="0" dirty="0" err="1">
                <a:solidFill>
                  <a:srgbClr val="425466"/>
                </a:solidFill>
                <a:latin typeface="Helvetica Neue"/>
                <a:ea typeface="Helvetica Neue"/>
                <a:cs typeface="Helvetica Neue"/>
              </a:rPr>
              <a:t>Constrain</a:t>
            </a:r>
            <a:r>
              <a:rPr sz="1088" b="0" dirty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rPr>
              <a:t> / Orchestrate</a:t>
            </a:r>
          </a:p>
          <a:p>
            <a:pPr algn="l">
              <a:buNone/>
              <a:defRPr sz="1088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defRPr>
            </a:pPr>
            <a:r>
              <a:rPr lang="en-US" altLang="zh-CN" sz="1088" b="0" dirty="0" err="1">
                <a:solidFill>
                  <a:srgbClr val="425466"/>
                </a:solidFill>
                <a:highlight>
                  <a:srgbClr val="00FF00"/>
                </a:highlight>
                <a:latin typeface="Helvetica Neue"/>
                <a:ea typeface="Helvetica Neue"/>
                <a:cs typeface="Helvetica Neue"/>
              </a:rPr>
              <a:t>Constract</a:t>
            </a:r>
            <a:r>
              <a:rPr lang="zh-CN" altLang="en-US" sz="1088" b="0" dirty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lang="en-US" altLang="zh-CN" sz="1088" b="0" dirty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rPr>
              <a:t>+</a:t>
            </a:r>
            <a:r>
              <a:rPr lang="zh-CN" altLang="en-US" sz="1088" b="0" dirty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088" b="0" dirty="0">
                <a:solidFill>
                  <a:srgbClr val="425466"/>
                </a:solidFill>
                <a:highlight>
                  <a:srgbClr val="00FF00"/>
                </a:highlight>
                <a:latin typeface="Helvetica Neue"/>
                <a:ea typeface="Helvetica Neue"/>
                <a:cs typeface="Helvetica Neue"/>
              </a:rPr>
              <a:t>Constraint </a:t>
            </a:r>
            <a:r>
              <a:rPr sz="1088" b="0" dirty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rPr>
              <a:t>+ Work Graph</a:t>
            </a:r>
          </a:p>
        </p:txBody>
      </p:sp>
      <p:sp>
        <p:nvSpPr>
          <p:cNvPr id="16" name="phase-让上下文与经验复利">
            <a:extLst>
              <a:ext uri="{FF2B5EF4-FFF2-40B4-BE49-F238E27FC236}">
                <a16:creationId xmlns:a16="http://schemas.microsoft.com/office/drawing/2014/main" id="{353B2AFE-7049-4E02-A44F-A1B1696639D6}"/>
              </a:ext>
            </a:extLst>
          </p:cNvPr>
          <p:cNvSpPr>
            <a:spLocks noGrp="1"/>
          </p:cNvSpPr>
          <p:nvPr/>
        </p:nvSpPr>
        <p:spPr>
          <a:xfrm>
            <a:off x="5886450" y="1562100"/>
            <a:ext cx="2457450" cy="1257300"/>
          </a:xfrm>
          <a:prstGeom prst="roundRect">
            <a:avLst>
              <a:gd name="adj" fmla="val 9091"/>
            </a:avLst>
          </a:prstGeom>
          <a:solidFill>
            <a:srgbClr val="EAFBFD"/>
          </a:solidFill>
          <a:ln w="9525">
            <a:solidFill>
              <a:srgbClr val="11B9D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phase-time-让上下文与经验复利">
            <a:extLst>
              <a:ext uri="{FF2B5EF4-FFF2-40B4-BE49-F238E27FC236}">
                <a16:creationId xmlns:a16="http://schemas.microsoft.com/office/drawing/2014/main" id="{4795756C-AD9C-4ED4-99D9-A14655029291}"/>
              </a:ext>
            </a:extLst>
          </p:cNvPr>
          <p:cNvSpPr>
            <a:spLocks noGrp="1"/>
          </p:cNvSpPr>
          <p:nvPr/>
        </p:nvSpPr>
        <p:spPr>
          <a:xfrm>
            <a:off x="6057900" y="1685925"/>
            <a:ext cx="704850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125" b="1">
                <a:solidFill>
                  <a:srgbClr val="11B9D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1B9D6"/>
                </a:solidFill>
                <a:latin typeface="Helvetica Neue"/>
                <a:ea typeface="Helvetica Neue"/>
                <a:cs typeface="Helvetica Neue"/>
              </a:rPr>
              <a:t>对抗自净</a:t>
            </a:r>
          </a:p>
        </p:txBody>
      </p:sp>
      <p:sp>
        <p:nvSpPr>
          <p:cNvPr id="18" name="phase-title-让上下文与经验复利">
            <a:extLst>
              <a:ext uri="{FF2B5EF4-FFF2-40B4-BE49-F238E27FC236}">
                <a16:creationId xmlns:a16="http://schemas.microsoft.com/office/drawing/2014/main" id="{069FBF3F-54F7-4DA5-8EF5-510335A61DF0}"/>
              </a:ext>
            </a:extLst>
          </p:cNvPr>
          <p:cNvSpPr>
            <a:spLocks noGrp="1"/>
          </p:cNvSpPr>
          <p:nvPr/>
        </p:nvSpPr>
        <p:spPr>
          <a:xfrm>
            <a:off x="6057900" y="1943100"/>
            <a:ext cx="20955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650" b="1">
                <a:solidFill>
                  <a:srgbClr val="0B12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B1220"/>
                </a:solidFill>
                <a:latin typeface="Helvetica Neue"/>
                <a:ea typeface="Helvetica Neue"/>
                <a:cs typeface="Helvetica Neue"/>
              </a:rPr>
              <a:t>编码 → SIT</a:t>
            </a:r>
          </a:p>
        </p:txBody>
      </p:sp>
      <p:sp>
        <p:nvSpPr>
          <p:cNvPr id="19" name="phase-body-让上下文与经验复利">
            <a:extLst>
              <a:ext uri="{FF2B5EF4-FFF2-40B4-BE49-F238E27FC236}">
                <a16:creationId xmlns:a16="http://schemas.microsoft.com/office/drawing/2014/main" id="{D2934DE8-C0FA-4554-8CC7-8DE8AF77B161}"/>
              </a:ext>
            </a:extLst>
          </p:cNvPr>
          <p:cNvSpPr>
            <a:spLocks noGrp="1"/>
          </p:cNvSpPr>
          <p:nvPr/>
        </p:nvSpPr>
        <p:spPr>
          <a:xfrm>
            <a:off x="6057900" y="2266950"/>
            <a:ext cx="2095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9412" lnSpcReduction="10000"/>
          </a:bodyPr>
          <a:lstStyle/>
          <a:p>
            <a:pPr algn="l">
              <a:buNone/>
              <a:defRPr sz="1088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88" b="0" dirty="0" err="1">
                <a:solidFill>
                  <a:srgbClr val="425466"/>
                </a:solidFill>
                <a:highlight>
                  <a:srgbClr val="FFFF00"/>
                </a:highlight>
                <a:latin typeface="Helvetica Neue"/>
                <a:ea typeface="Helvetica Neue"/>
                <a:cs typeface="Helvetica Neue"/>
              </a:rPr>
              <a:t>AS</a:t>
            </a:r>
            <a:r>
              <a:rPr sz="1088" b="0" dirty="0" err="1">
                <a:solidFill>
                  <a:srgbClr val="425466"/>
                </a:solidFill>
                <a:latin typeface="Helvetica Neue"/>
                <a:ea typeface="Helvetica Neue"/>
                <a:cs typeface="Helvetica Neue"/>
              </a:rPr>
              <a:t>：实现</a:t>
            </a:r>
            <a:r>
              <a:rPr sz="1088" b="0" dirty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rPr>
              <a:t> / </a:t>
            </a:r>
            <a:r>
              <a:rPr sz="1088" b="0" dirty="0" err="1">
                <a:solidFill>
                  <a:srgbClr val="425466"/>
                </a:solidFill>
                <a:latin typeface="Helvetica Neue"/>
                <a:ea typeface="Helvetica Neue"/>
                <a:cs typeface="Helvetica Neue"/>
              </a:rPr>
              <a:t>SIT；OA：Harness</a:t>
            </a:r>
            <a:endParaRPr sz="1088" b="0" dirty="0">
              <a:solidFill>
                <a:srgbClr val="425466"/>
              </a:solidFill>
              <a:latin typeface="Helvetica Neue"/>
              <a:ea typeface="Helvetica Neue"/>
              <a:cs typeface="Helvetica Neue"/>
            </a:endParaRPr>
          </a:p>
          <a:p>
            <a:pPr algn="l">
              <a:buNone/>
              <a:defRPr sz="1088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88" b="0" dirty="0" err="1">
                <a:solidFill>
                  <a:srgbClr val="425466"/>
                </a:solidFill>
                <a:highlight>
                  <a:srgbClr val="00FFFF"/>
                </a:highlight>
                <a:latin typeface="Helvetica Neue"/>
                <a:ea typeface="Helvetica Neue"/>
                <a:cs typeface="Helvetica Neue"/>
              </a:rPr>
              <a:t>SCOPE-V</a:t>
            </a:r>
            <a:r>
              <a:rPr sz="1088" b="0" dirty="0" err="1">
                <a:solidFill>
                  <a:srgbClr val="425466"/>
                </a:solidFill>
                <a:latin typeface="Helvetica Neue"/>
                <a:ea typeface="Helvetica Neue"/>
                <a:cs typeface="Helvetica Neue"/>
              </a:rPr>
              <a:t>：Prove</a:t>
            </a:r>
            <a:r>
              <a:rPr sz="1088" b="0" dirty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rPr>
              <a:t> ↔ Evolve</a:t>
            </a:r>
          </a:p>
          <a:p>
            <a:pPr algn="l">
              <a:buNone/>
              <a:defRPr sz="1088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88" b="0" dirty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rPr>
              <a:t>Code Map + </a:t>
            </a:r>
            <a:r>
              <a:rPr sz="1088" b="0" dirty="0">
                <a:solidFill>
                  <a:srgbClr val="425466"/>
                </a:solidFill>
                <a:highlight>
                  <a:srgbClr val="00FF00"/>
                </a:highlight>
                <a:latin typeface="Helvetica Neue"/>
                <a:ea typeface="Helvetica Neue"/>
                <a:cs typeface="Helvetica Neue"/>
              </a:rPr>
              <a:t>Evidence</a:t>
            </a:r>
          </a:p>
        </p:txBody>
      </p:sp>
      <p:sp>
        <p:nvSpPr>
          <p:cNvPr id="20" name="phase-扩大可复制能力">
            <a:extLst>
              <a:ext uri="{FF2B5EF4-FFF2-40B4-BE49-F238E27FC236}">
                <a16:creationId xmlns:a16="http://schemas.microsoft.com/office/drawing/2014/main" id="{96900311-217B-46C6-8D3F-3F77CABF7EB9}"/>
              </a:ext>
            </a:extLst>
          </p:cNvPr>
          <p:cNvSpPr>
            <a:spLocks noGrp="1"/>
          </p:cNvSpPr>
          <p:nvPr/>
        </p:nvSpPr>
        <p:spPr>
          <a:xfrm>
            <a:off x="8534400" y="1562100"/>
            <a:ext cx="2457450" cy="1257300"/>
          </a:xfrm>
          <a:prstGeom prst="roundRect">
            <a:avLst>
              <a:gd name="adj" fmla="val 9091"/>
            </a:avLst>
          </a:prstGeom>
          <a:solidFill>
            <a:srgbClr val="ECF8F3"/>
          </a:solidFill>
          <a:ln w="9525">
            <a:solidFill>
              <a:srgbClr val="16835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phase-time-扩大可复制能力">
            <a:extLst>
              <a:ext uri="{FF2B5EF4-FFF2-40B4-BE49-F238E27FC236}">
                <a16:creationId xmlns:a16="http://schemas.microsoft.com/office/drawing/2014/main" id="{B76CBDCE-671D-4550-BF54-928D784F91E0}"/>
              </a:ext>
            </a:extLst>
          </p:cNvPr>
          <p:cNvSpPr>
            <a:spLocks noGrp="1"/>
          </p:cNvSpPr>
          <p:nvPr/>
        </p:nvSpPr>
        <p:spPr>
          <a:xfrm>
            <a:off x="8705850" y="1685925"/>
            <a:ext cx="704850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125" b="1">
                <a:solidFill>
                  <a:srgbClr val="16835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6835C"/>
                </a:solidFill>
                <a:latin typeface="Helvetica Neue"/>
                <a:ea typeface="Helvetica Neue"/>
                <a:cs typeface="Helvetica Neue"/>
              </a:rPr>
              <a:t>HITL 裁决</a:t>
            </a:r>
          </a:p>
        </p:txBody>
      </p:sp>
      <p:sp>
        <p:nvSpPr>
          <p:cNvPr id="22" name="phase-title-扩大可复制能力">
            <a:extLst>
              <a:ext uri="{FF2B5EF4-FFF2-40B4-BE49-F238E27FC236}">
                <a16:creationId xmlns:a16="http://schemas.microsoft.com/office/drawing/2014/main" id="{25133BC5-9E71-429A-AD51-8976D50F9CA9}"/>
              </a:ext>
            </a:extLst>
          </p:cNvPr>
          <p:cNvSpPr>
            <a:spLocks noGrp="1"/>
          </p:cNvSpPr>
          <p:nvPr/>
        </p:nvSpPr>
        <p:spPr>
          <a:xfrm>
            <a:off x="8705850" y="1943100"/>
            <a:ext cx="20955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650" b="1">
                <a:solidFill>
                  <a:srgbClr val="0B12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B1220"/>
                </a:solidFill>
                <a:latin typeface="Helvetica Neue"/>
                <a:ea typeface="Helvetica Neue"/>
                <a:cs typeface="Helvetica Neue"/>
              </a:rPr>
              <a:t>集成 → 发布</a:t>
            </a:r>
          </a:p>
        </p:txBody>
      </p:sp>
      <p:sp>
        <p:nvSpPr>
          <p:cNvPr id="23" name="phase-body-扩大可复制能力">
            <a:extLst>
              <a:ext uri="{FF2B5EF4-FFF2-40B4-BE49-F238E27FC236}">
                <a16:creationId xmlns:a16="http://schemas.microsoft.com/office/drawing/2014/main" id="{FD9C8F46-E07D-4F27-92A4-F07FFE1F6865}"/>
              </a:ext>
            </a:extLst>
          </p:cNvPr>
          <p:cNvSpPr>
            <a:spLocks noGrp="1"/>
          </p:cNvSpPr>
          <p:nvPr/>
        </p:nvSpPr>
        <p:spPr>
          <a:xfrm>
            <a:off x="8705850" y="2266950"/>
            <a:ext cx="2095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9412" lnSpcReduction="10000"/>
          </a:bodyPr>
          <a:lstStyle/>
          <a:p>
            <a:pPr algn="l">
              <a:buNone/>
              <a:defRPr sz="1088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88" b="0" dirty="0" err="1">
                <a:solidFill>
                  <a:srgbClr val="425466"/>
                </a:solidFill>
                <a:highlight>
                  <a:srgbClr val="FFFF00"/>
                </a:highlight>
                <a:latin typeface="Helvetica Neue"/>
                <a:ea typeface="Helvetica Neue"/>
                <a:cs typeface="Helvetica Neue"/>
              </a:rPr>
              <a:t>AS</a:t>
            </a:r>
            <a:r>
              <a:rPr sz="1088" b="0" dirty="0" err="1">
                <a:solidFill>
                  <a:srgbClr val="425466"/>
                </a:solidFill>
                <a:latin typeface="Helvetica Neue"/>
                <a:ea typeface="Helvetica Neue"/>
                <a:cs typeface="Helvetica Neue"/>
              </a:rPr>
              <a:t>：集成</a:t>
            </a:r>
            <a:r>
              <a:rPr sz="1088" b="0" dirty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rPr>
              <a:t> / </a:t>
            </a:r>
            <a:r>
              <a:rPr sz="1088" b="0" dirty="0" err="1">
                <a:solidFill>
                  <a:srgbClr val="425466"/>
                </a:solidFill>
                <a:latin typeface="Helvetica Neue"/>
                <a:ea typeface="Helvetica Neue"/>
                <a:cs typeface="Helvetica Neue"/>
              </a:rPr>
              <a:t>回归；</a:t>
            </a:r>
            <a:r>
              <a:rPr sz="1088" b="0" dirty="0" err="1">
                <a:solidFill>
                  <a:srgbClr val="425466"/>
                </a:solidFill>
                <a:highlight>
                  <a:srgbClr val="FFFF00"/>
                </a:highlight>
                <a:latin typeface="Helvetica Neue"/>
                <a:ea typeface="Helvetica Neue"/>
                <a:cs typeface="Helvetica Neue"/>
              </a:rPr>
              <a:t>IO</a:t>
            </a:r>
            <a:r>
              <a:rPr sz="1088" b="0" dirty="0">
                <a:solidFill>
                  <a:srgbClr val="425466"/>
                </a:solidFill>
                <a:highlight>
                  <a:srgbClr val="FFFF00"/>
                </a:highlight>
                <a:latin typeface="Helvetica Neue"/>
                <a:ea typeface="Helvetica Neue"/>
                <a:cs typeface="Helvetica Neue"/>
              </a:rPr>
              <a:t> / </a:t>
            </a:r>
            <a:r>
              <a:rPr sz="1088" b="0" dirty="0" err="1">
                <a:solidFill>
                  <a:srgbClr val="425466"/>
                </a:solidFill>
                <a:highlight>
                  <a:srgbClr val="FFFF00"/>
                </a:highlight>
                <a:latin typeface="Helvetica Neue"/>
                <a:ea typeface="Helvetica Neue"/>
                <a:cs typeface="Helvetica Neue"/>
              </a:rPr>
              <a:t>OA</a:t>
            </a:r>
            <a:r>
              <a:rPr sz="1088" b="0" dirty="0" err="1">
                <a:solidFill>
                  <a:srgbClr val="425466"/>
                </a:solidFill>
                <a:latin typeface="Helvetica Neue"/>
                <a:ea typeface="Helvetica Neue"/>
                <a:cs typeface="Helvetica Neue"/>
              </a:rPr>
              <a:t>：Verify</a:t>
            </a:r>
            <a:endParaRPr sz="1088" b="0" dirty="0">
              <a:solidFill>
                <a:srgbClr val="425466"/>
              </a:solidFill>
              <a:latin typeface="Helvetica Neue"/>
              <a:ea typeface="Helvetica Neue"/>
              <a:cs typeface="Helvetica Neue"/>
            </a:endParaRPr>
          </a:p>
          <a:p>
            <a:pPr algn="l">
              <a:buNone/>
              <a:defRPr sz="1088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88" b="0" dirty="0" err="1">
                <a:solidFill>
                  <a:srgbClr val="425466"/>
                </a:solidFill>
                <a:highlight>
                  <a:srgbClr val="00FFFF"/>
                </a:highlight>
                <a:latin typeface="Helvetica Neue"/>
                <a:ea typeface="Helvetica Neue"/>
                <a:cs typeface="Helvetica Neue"/>
              </a:rPr>
              <a:t>SCOPE-V</a:t>
            </a:r>
            <a:r>
              <a:rPr sz="1088" b="0" dirty="0" err="1">
                <a:solidFill>
                  <a:srgbClr val="425466"/>
                </a:solidFill>
                <a:latin typeface="Helvetica Neue"/>
                <a:ea typeface="Helvetica Neue"/>
                <a:cs typeface="Helvetica Neue"/>
              </a:rPr>
              <a:t>：Verify</a:t>
            </a:r>
            <a:r>
              <a:rPr sz="1088" b="0" dirty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rPr>
              <a:t> → Telemetry</a:t>
            </a:r>
          </a:p>
          <a:p>
            <a:pPr algn="l">
              <a:buNone/>
              <a:defRPr sz="1088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88" b="0" dirty="0">
                <a:solidFill>
                  <a:srgbClr val="425466"/>
                </a:solidFill>
                <a:highlight>
                  <a:srgbClr val="00FF00"/>
                </a:highlight>
                <a:latin typeface="Helvetica Neue"/>
                <a:ea typeface="Helvetica Neue"/>
                <a:cs typeface="Helvetica Neue"/>
              </a:rPr>
              <a:t>Evidence</a:t>
            </a:r>
            <a:r>
              <a:rPr sz="1088" b="0" dirty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rPr>
              <a:t> + Memory</a:t>
            </a:r>
          </a:p>
        </p:txBody>
      </p:sp>
      <p:sp>
        <p:nvSpPr>
          <p:cNvPr id="24" name="four-dim-title">
            <a:extLst>
              <a:ext uri="{FF2B5EF4-FFF2-40B4-BE49-F238E27FC236}">
                <a16:creationId xmlns:a16="http://schemas.microsoft.com/office/drawing/2014/main" id="{D40CD4B9-D254-42D7-9798-DC2AD4AEA12D}"/>
              </a:ext>
            </a:extLst>
          </p:cNvPr>
          <p:cNvSpPr>
            <a:spLocks noGrp="1"/>
          </p:cNvSpPr>
          <p:nvPr/>
        </p:nvSpPr>
        <p:spPr>
          <a:xfrm>
            <a:off x="590550" y="2971800"/>
            <a:ext cx="857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500" b="1">
                <a:solidFill>
                  <a:srgbClr val="0B12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B1220"/>
                </a:solidFill>
                <a:latin typeface="Helvetica Neue"/>
                <a:ea typeface="Helvetica Neue"/>
                <a:cs typeface="Helvetica Neue"/>
              </a:rPr>
              <a:t>3-4-3 的四维嵌入：角色、工件与自治都沿同一条价值流运行</a:t>
            </a:r>
          </a:p>
        </p:txBody>
      </p:sp>
      <p:sp>
        <p:nvSpPr>
          <p:cNvPr id="25" name="rail-人员">
            <a:extLst>
              <a:ext uri="{FF2B5EF4-FFF2-40B4-BE49-F238E27FC236}">
                <a16:creationId xmlns:a16="http://schemas.microsoft.com/office/drawing/2014/main" id="{04054885-7DE1-4E4E-9783-6956EDCCD03D}"/>
              </a:ext>
            </a:extLst>
          </p:cNvPr>
          <p:cNvSpPr>
            <a:spLocks noGrp="1"/>
          </p:cNvSpPr>
          <p:nvPr/>
        </p:nvSpPr>
        <p:spPr>
          <a:xfrm>
            <a:off x="590550" y="3276600"/>
            <a:ext cx="11010900" cy="36195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8E0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rail-chip-人员">
            <a:extLst>
              <a:ext uri="{FF2B5EF4-FFF2-40B4-BE49-F238E27FC236}">
                <a16:creationId xmlns:a16="http://schemas.microsoft.com/office/drawing/2014/main" id="{5035838D-CA26-4075-9ADC-00CD848A0EF4}"/>
              </a:ext>
            </a:extLst>
          </p:cNvPr>
          <p:cNvSpPr>
            <a:spLocks noGrp="1"/>
          </p:cNvSpPr>
          <p:nvPr/>
        </p:nvSpPr>
        <p:spPr>
          <a:xfrm>
            <a:off x="590550" y="3276600"/>
            <a:ext cx="1066800" cy="361950"/>
          </a:xfrm>
          <a:prstGeom prst="roundRect">
            <a:avLst>
              <a:gd name="adj" fmla="val 18421"/>
            </a:avLst>
          </a:prstGeom>
          <a:solidFill>
            <a:srgbClr val="B96800"/>
          </a:solidFill>
          <a:ln w="9525">
            <a:solidFill>
              <a:srgbClr val="B968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rail-label-人员">
            <a:extLst>
              <a:ext uri="{FF2B5EF4-FFF2-40B4-BE49-F238E27FC236}">
                <a16:creationId xmlns:a16="http://schemas.microsoft.com/office/drawing/2014/main" id="{C2D741C6-4ED4-448F-8186-326D11E67157}"/>
              </a:ext>
            </a:extLst>
          </p:cNvPr>
          <p:cNvSpPr>
            <a:spLocks noGrp="1"/>
          </p:cNvSpPr>
          <p:nvPr/>
        </p:nvSpPr>
        <p:spPr>
          <a:xfrm>
            <a:off x="704850" y="3352800"/>
            <a:ext cx="857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buNone/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人员</a:t>
            </a:r>
          </a:p>
        </p:txBody>
      </p:sp>
      <p:sp>
        <p:nvSpPr>
          <p:cNvPr id="28" name="rail-body-人员">
            <a:extLst>
              <a:ext uri="{FF2B5EF4-FFF2-40B4-BE49-F238E27FC236}">
                <a16:creationId xmlns:a16="http://schemas.microsoft.com/office/drawing/2014/main" id="{BFDEE142-A79D-469E-86F2-AB5B4E6FE46B}"/>
              </a:ext>
            </a:extLst>
          </p:cNvPr>
          <p:cNvSpPr>
            <a:spLocks noGrp="1"/>
          </p:cNvSpPr>
          <p:nvPr/>
        </p:nvSpPr>
        <p:spPr>
          <a:xfrm>
            <a:off x="1828800" y="3343275"/>
            <a:ext cx="952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200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dirty="0">
                <a:solidFill>
                  <a:srgbClr val="425466"/>
                </a:solidFill>
                <a:highlight>
                  <a:srgbClr val="FFFF00"/>
                </a:highlight>
                <a:latin typeface="Helvetica Neue"/>
                <a:ea typeface="Helvetica Neue"/>
                <a:cs typeface="Helvetica Neue"/>
              </a:rPr>
              <a:t>IO</a:t>
            </a:r>
            <a:r>
              <a:rPr sz="1200" b="0" dirty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200" b="0" dirty="0" err="1">
                <a:solidFill>
                  <a:srgbClr val="425466"/>
                </a:solidFill>
                <a:latin typeface="Helvetica Neue"/>
                <a:ea typeface="Helvetica Neue"/>
                <a:cs typeface="Helvetica Neue"/>
              </a:rPr>
              <a:t>主导需求、定义与发布裁决；</a:t>
            </a:r>
            <a:r>
              <a:rPr sz="1200" b="0" dirty="0" err="1">
                <a:solidFill>
                  <a:srgbClr val="425466"/>
                </a:solidFill>
                <a:highlight>
                  <a:srgbClr val="FFFF00"/>
                </a:highlight>
                <a:latin typeface="Helvetica Neue"/>
                <a:ea typeface="Helvetica Neue"/>
                <a:cs typeface="Helvetica Neue"/>
              </a:rPr>
              <a:t>OA</a:t>
            </a:r>
            <a:r>
              <a:rPr sz="1200" b="0" dirty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200" b="0" dirty="0" err="1">
                <a:solidFill>
                  <a:srgbClr val="425466"/>
                </a:solidFill>
                <a:latin typeface="Helvetica Neue"/>
                <a:ea typeface="Helvetica Neue"/>
                <a:cs typeface="Helvetica Neue"/>
              </a:rPr>
              <a:t>贯穿控制与编排；</a:t>
            </a:r>
            <a:r>
              <a:rPr sz="1200" b="0" dirty="0" err="1">
                <a:solidFill>
                  <a:srgbClr val="425466"/>
                </a:solidFill>
                <a:highlight>
                  <a:srgbClr val="FFFF00"/>
                </a:highlight>
                <a:latin typeface="Helvetica Neue"/>
                <a:ea typeface="Helvetica Neue"/>
                <a:cs typeface="Helvetica Neue"/>
              </a:rPr>
              <a:t>AS</a:t>
            </a:r>
            <a:r>
              <a:rPr sz="1200" b="0" dirty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200" b="0" dirty="0" err="1">
                <a:solidFill>
                  <a:srgbClr val="425466"/>
                </a:solidFill>
                <a:latin typeface="Helvetica Neue"/>
                <a:ea typeface="Helvetica Neue"/>
                <a:cs typeface="Helvetica Neue"/>
              </a:rPr>
              <a:t>承担编码、测试、集成的受约束执行</a:t>
            </a:r>
            <a:r>
              <a:rPr sz="1200" b="0" dirty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rPr>
              <a:t>。</a:t>
            </a:r>
          </a:p>
        </p:txBody>
      </p:sp>
      <p:sp>
        <p:nvSpPr>
          <p:cNvPr id="29" name="rail-组织">
            <a:extLst>
              <a:ext uri="{FF2B5EF4-FFF2-40B4-BE49-F238E27FC236}">
                <a16:creationId xmlns:a16="http://schemas.microsoft.com/office/drawing/2014/main" id="{88916D52-20F6-4DCA-9047-418E4B792EF0}"/>
              </a:ext>
            </a:extLst>
          </p:cNvPr>
          <p:cNvSpPr>
            <a:spLocks noGrp="1"/>
          </p:cNvSpPr>
          <p:nvPr/>
        </p:nvSpPr>
        <p:spPr>
          <a:xfrm>
            <a:off x="590550" y="3686175"/>
            <a:ext cx="11010900" cy="36195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8E0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rail-chip-组织">
            <a:extLst>
              <a:ext uri="{FF2B5EF4-FFF2-40B4-BE49-F238E27FC236}">
                <a16:creationId xmlns:a16="http://schemas.microsoft.com/office/drawing/2014/main" id="{8E5453AA-B53B-4084-B346-25BE82C02FD3}"/>
              </a:ext>
            </a:extLst>
          </p:cNvPr>
          <p:cNvSpPr>
            <a:spLocks noGrp="1"/>
          </p:cNvSpPr>
          <p:nvPr/>
        </p:nvSpPr>
        <p:spPr>
          <a:xfrm>
            <a:off x="590550" y="3686175"/>
            <a:ext cx="1066800" cy="361950"/>
          </a:xfrm>
          <a:prstGeom prst="roundRect">
            <a:avLst>
              <a:gd name="adj" fmla="val 18421"/>
            </a:avLst>
          </a:prstGeom>
          <a:solidFill>
            <a:srgbClr val="1677FF"/>
          </a:solidFill>
          <a:ln w="9525">
            <a:solidFill>
              <a:srgbClr val="167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rail-label-组织">
            <a:extLst>
              <a:ext uri="{FF2B5EF4-FFF2-40B4-BE49-F238E27FC236}">
                <a16:creationId xmlns:a16="http://schemas.microsoft.com/office/drawing/2014/main" id="{DF8DA90B-1202-484E-B0D6-87241B5A1592}"/>
              </a:ext>
            </a:extLst>
          </p:cNvPr>
          <p:cNvSpPr>
            <a:spLocks noGrp="1"/>
          </p:cNvSpPr>
          <p:nvPr/>
        </p:nvSpPr>
        <p:spPr>
          <a:xfrm>
            <a:off x="704850" y="3762375"/>
            <a:ext cx="857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buNone/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组织</a:t>
            </a:r>
          </a:p>
        </p:txBody>
      </p:sp>
      <p:sp>
        <p:nvSpPr>
          <p:cNvPr id="32" name="rail-body-组织">
            <a:extLst>
              <a:ext uri="{FF2B5EF4-FFF2-40B4-BE49-F238E27FC236}">
                <a16:creationId xmlns:a16="http://schemas.microsoft.com/office/drawing/2014/main" id="{6A8C4915-43E9-43CA-AA40-EC4683F94160}"/>
              </a:ext>
            </a:extLst>
          </p:cNvPr>
          <p:cNvSpPr>
            <a:spLocks noGrp="1"/>
          </p:cNvSpPr>
          <p:nvPr/>
        </p:nvSpPr>
        <p:spPr>
          <a:xfrm>
            <a:off x="1828800" y="3752850"/>
            <a:ext cx="952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200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rPr>
              <a:t>业务 Owner、产品、架构、研发、测试与运维围绕同一 Contract 协作；例外在正确节点裁决。</a:t>
            </a:r>
          </a:p>
        </p:txBody>
      </p:sp>
      <p:sp>
        <p:nvSpPr>
          <p:cNvPr id="33" name="rail-流程">
            <a:extLst>
              <a:ext uri="{FF2B5EF4-FFF2-40B4-BE49-F238E27FC236}">
                <a16:creationId xmlns:a16="http://schemas.microsoft.com/office/drawing/2014/main" id="{54BC8370-C66B-47A6-8F75-66E77B115CFC}"/>
              </a:ext>
            </a:extLst>
          </p:cNvPr>
          <p:cNvSpPr>
            <a:spLocks noGrp="1"/>
          </p:cNvSpPr>
          <p:nvPr/>
        </p:nvSpPr>
        <p:spPr>
          <a:xfrm>
            <a:off x="590550" y="4095750"/>
            <a:ext cx="11010900" cy="36195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8E0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rail-chip-流程">
            <a:extLst>
              <a:ext uri="{FF2B5EF4-FFF2-40B4-BE49-F238E27FC236}">
                <a16:creationId xmlns:a16="http://schemas.microsoft.com/office/drawing/2014/main" id="{F9FD4851-5095-4319-95DE-1BF94CA1D167}"/>
              </a:ext>
            </a:extLst>
          </p:cNvPr>
          <p:cNvSpPr>
            <a:spLocks noGrp="1"/>
          </p:cNvSpPr>
          <p:nvPr/>
        </p:nvSpPr>
        <p:spPr>
          <a:xfrm>
            <a:off x="590550" y="4095750"/>
            <a:ext cx="1066800" cy="361950"/>
          </a:xfrm>
          <a:prstGeom prst="roundRect">
            <a:avLst>
              <a:gd name="adj" fmla="val 18421"/>
            </a:avLst>
          </a:prstGeom>
          <a:solidFill>
            <a:srgbClr val="11B9D6"/>
          </a:solidFill>
          <a:ln w="9525">
            <a:solidFill>
              <a:srgbClr val="11B9D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rail-label-流程">
            <a:extLst>
              <a:ext uri="{FF2B5EF4-FFF2-40B4-BE49-F238E27FC236}">
                <a16:creationId xmlns:a16="http://schemas.microsoft.com/office/drawing/2014/main" id="{E2D8590A-82DD-4180-9F52-EB5E96DD48AA}"/>
              </a:ext>
            </a:extLst>
          </p:cNvPr>
          <p:cNvSpPr>
            <a:spLocks noGrp="1"/>
          </p:cNvSpPr>
          <p:nvPr/>
        </p:nvSpPr>
        <p:spPr>
          <a:xfrm>
            <a:off x="704850" y="4171950"/>
            <a:ext cx="857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buNone/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流程</a:t>
            </a:r>
          </a:p>
        </p:txBody>
      </p:sp>
      <p:sp>
        <p:nvSpPr>
          <p:cNvPr id="36" name="rail-body-流程">
            <a:extLst>
              <a:ext uri="{FF2B5EF4-FFF2-40B4-BE49-F238E27FC236}">
                <a16:creationId xmlns:a16="http://schemas.microsoft.com/office/drawing/2014/main" id="{35190C33-C0DD-4575-8B05-8CB9BD7077D4}"/>
              </a:ext>
            </a:extLst>
          </p:cNvPr>
          <p:cNvSpPr>
            <a:spLocks noGrp="1"/>
          </p:cNvSpPr>
          <p:nvPr/>
        </p:nvSpPr>
        <p:spPr>
          <a:xfrm>
            <a:off x="1828800" y="4162425"/>
            <a:ext cx="952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5203"/>
          </a:bodyPr>
          <a:lstStyle/>
          <a:p>
            <a:pPr algn="l">
              <a:buNone/>
              <a:defRPr sz="1200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dirty="0">
                <a:solidFill>
                  <a:srgbClr val="425466"/>
                </a:solidFill>
                <a:highlight>
                  <a:srgbClr val="00FFFF"/>
                </a:highlight>
                <a:latin typeface="Helvetica Neue"/>
                <a:ea typeface="Helvetica Neue"/>
                <a:cs typeface="Helvetica Neue"/>
              </a:rPr>
              <a:t>SCOPE-V </a:t>
            </a:r>
            <a:r>
              <a:rPr sz="1200" b="0" dirty="0" err="1">
                <a:solidFill>
                  <a:srgbClr val="425466"/>
                </a:solidFill>
                <a:latin typeface="Helvetica Neue"/>
                <a:ea typeface="Helvetica Neue"/>
                <a:cs typeface="Helvetica Neue"/>
              </a:rPr>
              <a:t>的阶段落点：Specify</a:t>
            </a:r>
            <a:r>
              <a:rPr sz="1200" b="0" dirty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rPr>
              <a:t> → Constrain / Orchestrate → Prove ↔ Evolve → Verify → </a:t>
            </a:r>
            <a:r>
              <a:rPr sz="1200" b="0" dirty="0" err="1">
                <a:solidFill>
                  <a:srgbClr val="425466"/>
                </a:solidFill>
                <a:latin typeface="Helvetica Neue"/>
                <a:ea typeface="Helvetica Neue"/>
                <a:cs typeface="Helvetica Neue"/>
              </a:rPr>
              <a:t>Telemetry；每一步都有启动条件、停止条件与</a:t>
            </a:r>
            <a:r>
              <a:rPr sz="1200" b="0" dirty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rPr>
              <a:t> Evidence。</a:t>
            </a:r>
          </a:p>
        </p:txBody>
      </p:sp>
      <p:sp>
        <p:nvSpPr>
          <p:cNvPr id="37" name="rail-工具">
            <a:extLst>
              <a:ext uri="{FF2B5EF4-FFF2-40B4-BE49-F238E27FC236}">
                <a16:creationId xmlns:a16="http://schemas.microsoft.com/office/drawing/2014/main" id="{B5BC94AD-E29A-4791-9EF3-0D08E8A3A9BD}"/>
              </a:ext>
            </a:extLst>
          </p:cNvPr>
          <p:cNvSpPr>
            <a:spLocks noGrp="1"/>
          </p:cNvSpPr>
          <p:nvPr/>
        </p:nvSpPr>
        <p:spPr>
          <a:xfrm>
            <a:off x="590550" y="4505325"/>
            <a:ext cx="11010900" cy="36195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8E0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8" name="rail-chip-工具">
            <a:extLst>
              <a:ext uri="{FF2B5EF4-FFF2-40B4-BE49-F238E27FC236}">
                <a16:creationId xmlns:a16="http://schemas.microsoft.com/office/drawing/2014/main" id="{6DDCB258-B649-4C44-AE42-C43E652827FD}"/>
              </a:ext>
            </a:extLst>
          </p:cNvPr>
          <p:cNvSpPr>
            <a:spLocks noGrp="1"/>
          </p:cNvSpPr>
          <p:nvPr/>
        </p:nvSpPr>
        <p:spPr>
          <a:xfrm>
            <a:off x="590550" y="4505325"/>
            <a:ext cx="1066800" cy="361950"/>
          </a:xfrm>
          <a:prstGeom prst="roundRect">
            <a:avLst>
              <a:gd name="adj" fmla="val 18421"/>
            </a:avLst>
          </a:prstGeom>
          <a:solidFill>
            <a:srgbClr val="16835C"/>
          </a:solidFill>
          <a:ln w="9525">
            <a:solidFill>
              <a:srgbClr val="16835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9" name="rail-label-工具">
            <a:extLst>
              <a:ext uri="{FF2B5EF4-FFF2-40B4-BE49-F238E27FC236}">
                <a16:creationId xmlns:a16="http://schemas.microsoft.com/office/drawing/2014/main" id="{A65A4E05-8F44-4F50-8739-883D9B7F9FAB}"/>
              </a:ext>
            </a:extLst>
          </p:cNvPr>
          <p:cNvSpPr>
            <a:spLocks noGrp="1"/>
          </p:cNvSpPr>
          <p:nvPr/>
        </p:nvSpPr>
        <p:spPr>
          <a:xfrm>
            <a:off x="704850" y="4581525"/>
            <a:ext cx="857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buNone/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工件·工具</a:t>
            </a:r>
          </a:p>
        </p:txBody>
      </p:sp>
      <p:sp>
        <p:nvSpPr>
          <p:cNvPr id="40" name="rail-body-工具">
            <a:extLst>
              <a:ext uri="{FF2B5EF4-FFF2-40B4-BE49-F238E27FC236}">
                <a16:creationId xmlns:a16="http://schemas.microsoft.com/office/drawing/2014/main" id="{0E3956A2-EF2B-448E-8E80-848C54AB9022}"/>
              </a:ext>
            </a:extLst>
          </p:cNvPr>
          <p:cNvSpPr>
            <a:spLocks noGrp="1"/>
          </p:cNvSpPr>
          <p:nvPr/>
        </p:nvSpPr>
        <p:spPr>
          <a:xfrm>
            <a:off x="1828800" y="4572000"/>
            <a:ext cx="952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200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dirty="0" err="1">
                <a:solidFill>
                  <a:srgbClr val="425466"/>
                </a:solidFill>
                <a:latin typeface="Helvetica Neue"/>
                <a:ea typeface="Helvetica Neue"/>
                <a:cs typeface="Helvetica Neue"/>
              </a:rPr>
              <a:t>四大工件：</a:t>
            </a:r>
            <a:r>
              <a:rPr sz="1200" b="0" dirty="0" err="1">
                <a:solidFill>
                  <a:srgbClr val="425466"/>
                </a:solidFill>
                <a:highlight>
                  <a:srgbClr val="00FF00"/>
                </a:highlight>
                <a:latin typeface="Helvetica Neue"/>
                <a:ea typeface="Helvetica Neue"/>
                <a:cs typeface="Helvetica Neue"/>
              </a:rPr>
              <a:t>意图图谱</a:t>
            </a:r>
            <a:r>
              <a:rPr sz="1200" b="0" dirty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rPr>
              <a:t> → </a:t>
            </a:r>
            <a:r>
              <a:rPr sz="1200" b="0" dirty="0" err="1">
                <a:solidFill>
                  <a:srgbClr val="425466"/>
                </a:solidFill>
                <a:highlight>
                  <a:srgbClr val="00FF00"/>
                </a:highlight>
                <a:latin typeface="Helvetica Neue"/>
                <a:ea typeface="Helvetica Neue"/>
                <a:cs typeface="Helvetica Neue"/>
              </a:rPr>
              <a:t>意图契约</a:t>
            </a:r>
            <a:r>
              <a:rPr sz="1200" b="0" dirty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rPr>
              <a:t> → </a:t>
            </a:r>
            <a:r>
              <a:rPr sz="1200" b="0" dirty="0" err="1">
                <a:solidFill>
                  <a:srgbClr val="425466"/>
                </a:solidFill>
                <a:highlight>
                  <a:srgbClr val="00FF00"/>
                </a:highlight>
                <a:latin typeface="Helvetica Neue"/>
                <a:ea typeface="Helvetica Neue"/>
                <a:cs typeface="Helvetica Neue"/>
              </a:rPr>
              <a:t>约束矩阵</a:t>
            </a:r>
            <a:r>
              <a:rPr sz="1200" b="0" dirty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rPr>
              <a:t> → </a:t>
            </a:r>
            <a:r>
              <a:rPr sz="1200" b="0" dirty="0" err="1">
                <a:solidFill>
                  <a:srgbClr val="425466"/>
                </a:solidFill>
                <a:highlight>
                  <a:srgbClr val="00FF00"/>
                </a:highlight>
                <a:latin typeface="Helvetica Neue"/>
                <a:ea typeface="Helvetica Neue"/>
                <a:cs typeface="Helvetica Neue"/>
              </a:rPr>
              <a:t>Evidence</a:t>
            </a:r>
            <a:r>
              <a:rPr sz="1200" b="0" dirty="0" err="1">
                <a:solidFill>
                  <a:srgbClr val="425466"/>
                </a:solidFill>
                <a:latin typeface="Helvetica Neue"/>
                <a:ea typeface="Helvetica Neue"/>
                <a:cs typeface="Helvetica Neue"/>
              </a:rPr>
              <a:t>；IWE×Code</a:t>
            </a:r>
            <a:r>
              <a:rPr sz="1200" b="0" dirty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200" b="0" dirty="0" err="1">
                <a:solidFill>
                  <a:srgbClr val="425466"/>
                </a:solidFill>
                <a:latin typeface="Helvetica Neue"/>
                <a:ea typeface="Helvetica Neue"/>
                <a:cs typeface="Helvetica Neue"/>
              </a:rPr>
              <a:t>Map、Harness、Memory、Telemetry</a:t>
            </a:r>
            <a:r>
              <a:rPr sz="1200" b="0" dirty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200" b="0" dirty="0" err="1">
                <a:solidFill>
                  <a:srgbClr val="425466"/>
                </a:solidFill>
                <a:latin typeface="Helvetica Neue"/>
                <a:ea typeface="Helvetica Neue"/>
                <a:cs typeface="Helvetica Neue"/>
              </a:rPr>
              <a:t>贯穿任务</a:t>
            </a:r>
            <a:r>
              <a:rPr sz="1200" b="0" dirty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rPr>
              <a:t>。</a:t>
            </a:r>
          </a:p>
        </p:txBody>
      </p:sp>
      <p:sp>
        <p:nvSpPr>
          <p:cNvPr id="41" name="outcome-panel">
            <a:extLst>
              <a:ext uri="{FF2B5EF4-FFF2-40B4-BE49-F238E27FC236}">
                <a16:creationId xmlns:a16="http://schemas.microsoft.com/office/drawing/2014/main" id="{7F38DC27-B160-426B-B91F-0DFA09BFC3A8}"/>
              </a:ext>
            </a:extLst>
          </p:cNvPr>
          <p:cNvSpPr>
            <a:spLocks noGrp="1"/>
          </p:cNvSpPr>
          <p:nvPr/>
        </p:nvSpPr>
        <p:spPr>
          <a:xfrm>
            <a:off x="590550" y="5067300"/>
            <a:ext cx="5181600" cy="1219200"/>
          </a:xfrm>
          <a:prstGeom prst="roundRect">
            <a:avLst>
              <a:gd name="adj" fmla="val 7813"/>
            </a:avLst>
          </a:prstGeom>
          <a:solidFill>
            <a:srgbClr val="F4F7FA"/>
          </a:solidFill>
          <a:ln w="9525">
            <a:solidFill>
              <a:srgbClr val="D8E0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2" name="outcome-head">
            <a:extLst>
              <a:ext uri="{FF2B5EF4-FFF2-40B4-BE49-F238E27FC236}">
                <a16:creationId xmlns:a16="http://schemas.microsoft.com/office/drawing/2014/main" id="{E59FE4F8-2A8E-4BFD-9B1D-29EEE85E2F9D}"/>
              </a:ext>
            </a:extLst>
          </p:cNvPr>
          <p:cNvSpPr>
            <a:spLocks noGrp="1"/>
          </p:cNvSpPr>
          <p:nvPr/>
        </p:nvSpPr>
        <p:spPr>
          <a:xfrm>
            <a:off x="800100" y="5219700"/>
            <a:ext cx="180975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425" b="1">
                <a:solidFill>
                  <a:srgbClr val="0B12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B1220"/>
                </a:solidFill>
                <a:latin typeface="Helvetica Neue"/>
                <a:ea typeface="Helvetica Neue"/>
                <a:cs typeface="Helvetica Neue"/>
              </a:rPr>
              <a:t>阶段动作与改善指标</a:t>
            </a:r>
          </a:p>
        </p:txBody>
      </p:sp>
      <p:sp>
        <p:nvSpPr>
          <p:cNvPr id="43" name="outcome-body">
            <a:extLst>
              <a:ext uri="{FF2B5EF4-FFF2-40B4-BE49-F238E27FC236}">
                <a16:creationId xmlns:a16="http://schemas.microsoft.com/office/drawing/2014/main" id="{B39B1606-1547-4E2A-9240-10552CD80345}"/>
              </a:ext>
            </a:extLst>
          </p:cNvPr>
          <p:cNvSpPr>
            <a:spLocks noGrp="1"/>
          </p:cNvSpPr>
          <p:nvPr/>
        </p:nvSpPr>
        <p:spPr>
          <a:xfrm>
            <a:off x="800100" y="5514975"/>
            <a:ext cx="4667250" cy="542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8958"/>
          </a:bodyPr>
          <a:lstStyle/>
          <a:p>
            <a:pPr algn="l">
              <a:buNone/>
              <a:defRPr sz="1200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rPr>
              <a:t>需求：C&amp;A% / 澄清返工 ｜ 工程：编码→SIT Lead Time / 首次通过</a:t>
            </a:r>
          </a:p>
          <a:p>
            <a:pPr algn="l">
              <a:buNone/>
              <a:defRPr sz="1200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rPr>
              <a:t>交付：集成→发布 Lead Time / 逃逸缺陷 ｜ 运行：回退、HITL、Token + 人工成本</a:t>
            </a:r>
          </a:p>
        </p:txBody>
      </p:sp>
      <p:sp>
        <p:nvSpPr>
          <p:cNvPr id="44" name="proof-panel">
            <a:extLst>
              <a:ext uri="{FF2B5EF4-FFF2-40B4-BE49-F238E27FC236}">
                <a16:creationId xmlns:a16="http://schemas.microsoft.com/office/drawing/2014/main" id="{DBB8875E-9C02-4D8B-BF8A-B50D23250DB0}"/>
              </a:ext>
            </a:extLst>
          </p:cNvPr>
          <p:cNvSpPr>
            <a:spLocks noGrp="1"/>
          </p:cNvSpPr>
          <p:nvPr/>
        </p:nvSpPr>
        <p:spPr>
          <a:xfrm>
            <a:off x="6019800" y="5067300"/>
            <a:ext cx="5581650" cy="1219200"/>
          </a:xfrm>
          <a:prstGeom prst="roundRect">
            <a:avLst>
              <a:gd name="adj" fmla="val 7813"/>
            </a:avLst>
          </a:prstGeom>
          <a:solidFill>
            <a:srgbClr val="F7FBFF"/>
          </a:solidFill>
          <a:ln w="9525">
            <a:solidFill>
              <a:srgbClr val="167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5" name="proof-head">
            <a:extLst>
              <a:ext uri="{FF2B5EF4-FFF2-40B4-BE49-F238E27FC236}">
                <a16:creationId xmlns:a16="http://schemas.microsoft.com/office/drawing/2014/main" id="{63C9B8AA-9029-4525-8221-182DD24CBB3D}"/>
              </a:ext>
            </a:extLst>
          </p:cNvPr>
          <p:cNvSpPr>
            <a:spLocks noGrp="1"/>
          </p:cNvSpPr>
          <p:nvPr/>
        </p:nvSpPr>
        <p:spPr>
          <a:xfrm>
            <a:off x="6229350" y="5219700"/>
            <a:ext cx="247650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72329"/>
          </a:bodyPr>
          <a:lstStyle/>
          <a:p>
            <a:pPr algn="l">
              <a:buNone/>
              <a:defRPr sz="1425" b="1">
                <a:solidFill>
                  <a:srgbClr val="0B12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B1220"/>
                </a:solidFill>
                <a:latin typeface="Helvetica Neue"/>
                <a:ea typeface="Helvetica Neue"/>
                <a:cs typeface="Helvetica Neue"/>
              </a:rPr>
              <a:t>证明：不是局部效率，而是端到端有效交付</a:t>
            </a:r>
          </a:p>
        </p:txBody>
      </p:sp>
      <p:sp>
        <p:nvSpPr>
          <p:cNvPr id="46" name="proof-body">
            <a:extLst>
              <a:ext uri="{FF2B5EF4-FFF2-40B4-BE49-F238E27FC236}">
                <a16:creationId xmlns:a16="http://schemas.microsoft.com/office/drawing/2014/main" id="{14C9C814-8CEE-4FC3-8388-0E8FBCE354B6}"/>
              </a:ext>
            </a:extLst>
          </p:cNvPr>
          <p:cNvSpPr>
            <a:spLocks noGrp="1"/>
          </p:cNvSpPr>
          <p:nvPr/>
        </p:nvSpPr>
        <p:spPr>
          <a:xfrm>
            <a:off x="6229350" y="5514975"/>
            <a:ext cx="5124450" cy="542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200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dirty="0" err="1">
                <a:solidFill>
                  <a:srgbClr val="425466"/>
                </a:solidFill>
                <a:latin typeface="Helvetica Neue"/>
                <a:ea typeface="Helvetica Neue"/>
                <a:cs typeface="Helvetica Neue"/>
              </a:rPr>
              <a:t>主指标：端到端</a:t>
            </a:r>
            <a:r>
              <a:rPr sz="1200" b="0" dirty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rPr>
              <a:t> Lead Time ｜ </a:t>
            </a:r>
            <a:r>
              <a:rPr sz="1200" b="0" dirty="0" err="1">
                <a:solidFill>
                  <a:srgbClr val="425466"/>
                </a:solidFill>
                <a:latin typeface="Helvetica Neue"/>
                <a:ea typeface="Helvetica Neue"/>
                <a:cs typeface="Helvetica Neue"/>
              </a:rPr>
              <a:t>配套：C&amp;A</a:t>
            </a:r>
            <a:r>
              <a:rPr sz="1200" b="0" dirty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rPr>
              <a:t>%、</a:t>
            </a:r>
            <a:r>
              <a:rPr sz="1200" b="0" dirty="0" err="1">
                <a:solidFill>
                  <a:srgbClr val="425466"/>
                </a:solidFill>
                <a:latin typeface="Helvetica Neue"/>
                <a:ea typeface="Helvetica Neue"/>
                <a:cs typeface="Helvetica Neue"/>
              </a:rPr>
              <a:t>首次通过、返工、逃逸缺陷</a:t>
            </a:r>
            <a:endParaRPr sz="1200" b="0" dirty="0">
              <a:solidFill>
                <a:srgbClr val="425466"/>
              </a:solidFill>
              <a:latin typeface="Helvetica Neue"/>
              <a:ea typeface="Helvetica Neue"/>
              <a:cs typeface="Helvetica Neue"/>
            </a:endParaRPr>
          </a:p>
          <a:p>
            <a:pPr algn="l">
              <a:buNone/>
              <a:defRPr sz="1200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dirty="0" err="1">
                <a:solidFill>
                  <a:srgbClr val="425466"/>
                </a:solidFill>
                <a:latin typeface="Helvetica Neue"/>
                <a:ea typeface="Helvetica Neue"/>
                <a:cs typeface="Helvetica Neue"/>
              </a:rPr>
              <a:t>同类任务、同一风险边界：基线</a:t>
            </a:r>
            <a:r>
              <a:rPr sz="1200" b="0" dirty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rPr>
              <a:t> vs. </a:t>
            </a:r>
            <a:r>
              <a:rPr sz="1200" b="0" dirty="0" err="1">
                <a:solidFill>
                  <a:srgbClr val="425466"/>
                </a:solidFill>
                <a:latin typeface="Helvetica Neue"/>
                <a:ea typeface="Helvetica Neue"/>
                <a:cs typeface="Helvetica Neue"/>
              </a:rPr>
              <a:t>趋势</a:t>
            </a:r>
            <a:r>
              <a:rPr sz="1200" b="0" dirty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rPr>
              <a:t> + Contract / Evidence / Telemetry</a:t>
            </a:r>
          </a:p>
        </p:txBody>
      </p:sp>
      <p:sp>
        <p:nvSpPr>
          <p:cNvPr id="47" name="footer">
            <a:extLst>
              <a:ext uri="{FF2B5EF4-FFF2-40B4-BE49-F238E27FC236}">
                <a16:creationId xmlns:a16="http://schemas.microsoft.com/office/drawing/2014/main" id="{52EEF19E-745F-4146-B0E2-17E9B0FD618C}"/>
              </a:ext>
            </a:extLst>
          </p:cNvPr>
          <p:cNvSpPr>
            <a:spLocks noGrp="1"/>
          </p:cNvSpPr>
          <p:nvPr/>
        </p:nvSpPr>
        <p:spPr>
          <a:xfrm>
            <a:off x="590550" y="6486525"/>
            <a:ext cx="9525000" cy="161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900" b="0">
                <a:solidFill>
                  <a:srgbClr val="6E7E9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E7E92"/>
                </a:solidFill>
                <a:latin typeface="Helvetica Neue"/>
                <a:ea typeface="Helvetica Neue"/>
                <a:cs typeface="Helvetica Neue"/>
              </a:rPr>
              <a:t>Agentic Agile｜让每一个 SDLC 阶段更快、更准、更可控，并能证明结果</a:t>
            </a:r>
          </a:p>
        </p:txBody>
      </p:sp>
    </p:spTree>
    <p:extLst>
      <p:ext uri="{BB962C8B-B14F-4D97-AF65-F5344CB8AC3E}">
        <p14:creationId xmlns:p14="http://schemas.microsoft.com/office/powerpoint/2010/main" val="1084118702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453</Words>
  <Application>Microsoft Macintosh PowerPoint</Application>
  <DocSecurity>0</DocSecurity>
  <PresentationFormat>Widescreen</PresentationFormat>
  <Paragraphs>49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Calibri</vt:lpstr>
      <vt:lpstr>Helvetica Neue</vt:lpstr>
      <vt:lpstr>ChatGPT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Wang Lijie</cp:lastModifiedBy>
  <cp:revision>1</cp:revision>
  <dcterms:created xsi:type="dcterms:W3CDTF">2026-08-26T02:27:21Z</dcterms:created>
  <dcterms:modified xsi:type="dcterms:W3CDTF">2026-08-26T02:37:53Z</dcterms:modified>
</cp:coreProperties>
</file>