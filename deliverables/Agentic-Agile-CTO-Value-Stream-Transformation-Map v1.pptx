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Internal: Agentic Agile book, Chapters 2, 5, 16, 25, 26.</a:t>
            </a:r>
          </a:p>
          <a:p>
            <a:r>
              <a:t>- This slide shows a recommended 12-week pilot sequence. It does not claim guaranteed numerical outcomes.</a:t>
            </a:r>
          </a:p>
          <a:p>
            <a:endParaRPr/>
          </a:p>
          <a:p>
            <a:r>
              <a:t>Presenter emphasis:</a:t>
            </a:r>
          </a:p>
          <a:p>
            <a:r>
              <a:t>Start with one product value stream and a business result, not an enterprise platform. The double-map structure makes current facts available: IWE holds documented intent, rules and decisions; Code Map locates the actual implementation and tests. Basic Memory preserves task state and candidate learning, while promotion gates ensure only evidence-backed knowledge becomes reusable organizational assets. The scale decision must use comparable baselines plus task-level Evidence and cross-task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1101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用一条产品研发价值流，兑现 AI 转型的端到端提效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不是部署更多 Agent，而是让意图、受控执行、证据与学习在同一条价值流上闭环。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1010900" cy="323850"/>
          </a:xfrm>
          <a:prstGeom prst="roundRect">
            <a:avLst>
              <a:gd name="adj" fmla="val 1764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hesis-text">
            <a:extLst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10620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试点目标：以一条真实产品研发价值流为单位，建立可签署、可运行、可验证、可复用的 AI 原生交付能力。</a:t>
            </a:r>
          </a:p>
        </p:txBody>
      </p:sp>
      <p:sp>
        <p:nvSpPr>
          <p:cNvPr id="5" name="flow-arrow-1">
            <a:extLst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arrow-2">
            <a:extLst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noGrp="1"/>
          </p:cNvSpPr>
          <p:nvPr/>
        </p:nvSpPr>
        <p:spPr>
          <a:xfrm>
            <a:off x="586740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-arrow-3">
            <a:extLst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hase-选对价值流">
            <a:extLst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FFF4E8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hase-time-选对价值流">
            <a:extLst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0–2 周</a:t>
            </a:r>
          </a:p>
        </p:txBody>
      </p:sp>
      <p:sp>
        <p:nvSpPr>
          <p:cNvPr id="10" name="phase-title-选对价值流">
            <a:extLst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选对价值流</a:t>
            </a:r>
          </a:p>
        </p:txBody>
      </p:sp>
      <p:sp>
        <p:nvSpPr>
          <p:cNvPr id="11" name="phase-body-选对价值流">
            <a:extLst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业务结果 + 关键瓶颈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基线、风险与范围</a:t>
            </a:r>
          </a:p>
        </p:txBody>
      </p:sp>
      <p:sp>
        <p:nvSpPr>
          <p:cNvPr id="12" name="phase-跑通受控闭环">
            <a:extLst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noGrp="1"/>
          </p:cNvSpPr>
          <p:nvPr/>
        </p:nvSpPr>
        <p:spPr>
          <a:xfrm>
            <a:off x="32385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hase-time-跑通受控闭环">
            <a:extLst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noGrp="1"/>
          </p:cNvSpPr>
          <p:nvPr/>
        </p:nvSpPr>
        <p:spPr>
          <a:xfrm>
            <a:off x="34099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3–5 周</a:t>
            </a:r>
          </a:p>
        </p:txBody>
      </p:sp>
      <p:sp>
        <p:nvSpPr>
          <p:cNvPr id="14" name="phase-title-跑通受控闭环">
            <a:extLst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跑通受控闭环</a:t>
            </a:r>
          </a:p>
        </p:txBody>
      </p:sp>
      <p:sp>
        <p:nvSpPr>
          <p:cNvPr id="15" name="phase-body-跑通受控闭环">
            <a:extLst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Contract + SCOPE-V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Harness、Prove、Evidence</a:t>
            </a:r>
          </a:p>
        </p:txBody>
      </p:sp>
      <p:sp>
        <p:nvSpPr>
          <p:cNvPr id="16" name="phase-让上下文与经验复利">
            <a:extLst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noGrp="1"/>
          </p:cNvSpPr>
          <p:nvPr/>
        </p:nvSpPr>
        <p:spPr>
          <a:xfrm>
            <a:off x="58864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BFD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hase-time-让上下文与经验复利">
            <a:extLst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noGrp="1"/>
          </p:cNvSpPr>
          <p:nvPr/>
        </p:nvSpPr>
        <p:spPr>
          <a:xfrm>
            <a:off x="60579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6–9 周</a:t>
            </a:r>
          </a:p>
        </p:txBody>
      </p:sp>
      <p:sp>
        <p:nvSpPr>
          <p:cNvPr id="18" name="phase-title-让上下文与经验复利">
            <a:extLst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noGrp="1"/>
          </p:cNvSpPr>
          <p:nvPr/>
        </p:nvSpPr>
        <p:spPr>
          <a:xfrm>
            <a:off x="60579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让上下文与经验复利</a:t>
            </a:r>
          </a:p>
        </p:txBody>
      </p:sp>
      <p:sp>
        <p:nvSpPr>
          <p:cNvPr id="19" name="phase-body-让上下文与经验复利">
            <a:extLst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45"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IWE 文档地图 + Code Map（双地图）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Evidence → Basic / Agent Memory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验证晋升 → 规则 / 测试 / Skill</a:t>
            </a:r>
          </a:p>
        </p:txBody>
      </p:sp>
      <p:sp>
        <p:nvSpPr>
          <p:cNvPr id="20" name="phase-扩大可复制能力">
            <a:extLst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CF8F3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hase-time-扩大可复制能力">
            <a:extLst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noGrp="1"/>
          </p:cNvSpPr>
          <p:nvPr/>
        </p:nvSpPr>
        <p:spPr>
          <a:xfrm>
            <a:off x="87058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10–12 周</a:t>
            </a:r>
          </a:p>
        </p:txBody>
      </p:sp>
      <p:sp>
        <p:nvSpPr>
          <p:cNvPr id="22" name="phase-title-扩大可复制能力">
            <a:extLst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扩大可复制能力</a:t>
            </a:r>
          </a:p>
        </p:txBody>
      </p:sp>
      <p:sp>
        <p:nvSpPr>
          <p:cNvPr id="23" name="phase-body-扩大可复制能力">
            <a:extLst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标准、技能与授权扩展</a:t>
            </a:r>
          </a:p>
          <a:p>
            <a:pPr algn="l"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 支持扩大或收缩</a:t>
            </a:r>
          </a:p>
        </p:txBody>
      </p:sp>
      <p:sp>
        <p:nvSpPr>
          <p:cNvPr id="24" name="four-dim-title">
            <a:extLst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四维必须同时改变，但每一步只改造本轮闭环所需的最小部分</a:t>
            </a:r>
          </a:p>
        </p:txBody>
      </p:sp>
      <p:sp>
        <p:nvSpPr>
          <p:cNvPr id="25" name="rail-人员">
            <a:extLst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ail-chip-人员">
            <a:extLst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B96800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ail-label-人员">
            <a:extLst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noGrp="1"/>
          </p:cNvSpPr>
          <p:nvPr/>
        </p:nvSpPr>
        <p:spPr>
          <a:xfrm>
            <a:off x="1828800" y="33432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 / AS：人从重复执行转向意图定义、控制设计、异常裁决与责任签署。</a:t>
            </a:r>
          </a:p>
        </p:txBody>
      </p:sp>
      <p:sp>
        <p:nvSpPr>
          <p:cNvPr id="29" name="rail-组织">
            <a:extLst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ail-chip-组织">
            <a:extLst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ail-label-组织">
            <a:extLst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noGrp="1"/>
          </p:cNvSpPr>
          <p:nvPr/>
        </p:nvSpPr>
        <p:spPr>
          <a:xfrm>
            <a:off x="1828800" y="3752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围绕价值流形成最小责任单元；决策权前移，越界、冲突与不可逆行动有明确去处。</a:t>
            </a:r>
          </a:p>
        </p:txBody>
      </p:sp>
      <p:sp>
        <p:nvSpPr>
          <p:cNvPr id="33" name="rail-流程">
            <a:extLst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ail-chip-流程">
            <a:extLst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1B9D6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ail-label-流程">
            <a:extLst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noGrp="1"/>
          </p:cNvSpPr>
          <p:nvPr/>
        </p:nvSpPr>
        <p:spPr>
          <a:xfrm>
            <a:off x="1828800" y="41624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SCOPE-V：机器快内环持续执行、验证与修复；人类责任外环负责边界、例外、发布与扩大。</a:t>
            </a:r>
          </a:p>
        </p:txBody>
      </p:sp>
      <p:sp>
        <p:nvSpPr>
          <p:cNvPr id="37" name="rail-工具">
            <a:extLst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ail-chip-工具">
            <a:extLst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835C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ail-label-工具">
            <a:extLst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Context + Orchestration + Harness + Evidence + Telemetry：把规则、状态、权限和事实嵌入日常工作。</a:t>
            </a:r>
          </a:p>
        </p:txBody>
      </p:sp>
      <p:sp>
        <p:nvSpPr>
          <p:cNvPr id="41" name="outcome-panel">
            <a:extLst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51816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outcome-head">
            <a:extLst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将取得什么成果</a:t>
            </a:r>
          </a:p>
        </p:txBody>
      </p:sp>
      <p:sp>
        <p:nvSpPr>
          <p:cNvPr id="43" name="outcome-body">
            <a:extLst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端到端周期缩短  ·  首次通过率提升  ·  返工与等待下降</a:t>
            </a:r>
          </a:p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人类判断集中到价值与风险节点  ·  可复用上下文、规则、测试与 Skill 持续累积</a:t>
            </a:r>
          </a:p>
        </p:txBody>
      </p:sp>
      <p:sp>
        <p:nvSpPr>
          <p:cNvPr id="44" name="proof-panel">
            <a:extLst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5581650" cy="1219200"/>
          </a:xfrm>
          <a:prstGeom prst="roundRect">
            <a:avLst>
              <a:gd name="adj" fmla="val 7813"/>
            </a:avLst>
          </a:prstGeom>
          <a:solidFill>
            <a:srgbClr val="F7FB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proof-head">
            <a:extLst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如何度量并证明成果</a:t>
            </a:r>
          </a:p>
        </p:txBody>
      </p:sp>
      <p:sp>
        <p:nvSpPr>
          <p:cNvPr id="46" name="proof-body">
            <a:extLst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noGrp="1"/>
          </p:cNvSpPr>
          <p:nvPr/>
        </p:nvSpPr>
        <p:spPr>
          <a:xfrm>
            <a:off x="6229350" y="5514975"/>
            <a:ext cx="5124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同类任务、同一风险边界：试点前基线 vs. 试点后趋势</a:t>
            </a:r>
          </a:p>
          <a:p>
            <a:pPr algn="l"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业务价值｜工程质量｜自治健康｜人机成本  ←  Intent Contract + Evidence Bundle + Telemetry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noGrp="1"/>
          </p:cNvSpPr>
          <p:nvPr/>
        </p:nvSpPr>
        <p:spPr>
          <a:xfrm>
            <a:off x="590550" y="6486525"/>
            <a:ext cx="952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Agile｜以真实价值流证明 AI 转型，而非用代码生成率宣布成功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DocSecurity>0</DocSecurity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Helvetica Neue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Lijie</cp:lastModifiedBy>
  <cp:revision>1</cp:revision>
  <dcterms:created xsi:type="dcterms:W3CDTF">2026-08-26T01:45:23Z</dcterms:created>
  <dcterms:modified xsi:type="dcterms:W3CDTF">2026-08-26T01:49:38Z</dcterms:modified>
</cp:coreProperties>
</file>