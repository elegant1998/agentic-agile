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4478290d9499f" /><Relationship Type="http://schemas.openxmlformats.org/officeDocument/2006/relationships/extended-properties" Target="/docProps/app.xml" Id="Rb1a9689b6b8944a2" /><Relationship Type="http://schemas.openxmlformats.org/officeDocument/2006/relationships/officeDocument" Target="/ppt/presentation.xml" Id="Rd15f296c5479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99bd836144ece"/>
  </p:sldMasterIdLst>
  <p:notesMasterIdLst>
    <p:notesMasterId xmlns:r="http://schemas.openxmlformats.org/officeDocument/2006/relationships" r:id="R737f0e1965074d16"/>
  </p:notesMasterIdLst>
  <p:sldIdLst>
    <p:sldId xmlns:r="http://schemas.openxmlformats.org/officeDocument/2006/relationships" id="256" r:id="R5e7f7c80badc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24b64a5aa4014" /><Relationship Type="http://schemas.openxmlformats.org/officeDocument/2006/relationships/slideMaster" Target="/ppt/slideMasters/slideMaster1.xml" Id="Rc0899bd836144ece" /><Relationship Type="http://schemas.openxmlformats.org/officeDocument/2006/relationships/notesMaster" Target="/ppt/notesMasters/notesMaster1.xml" Id="R737f0e1965074d16" /><Relationship Type="http://schemas.openxmlformats.org/officeDocument/2006/relationships/presProps" Target="/ppt/presProps.xml" Id="R508054c6dd2243b5" /><Relationship Type="http://schemas.openxmlformats.org/officeDocument/2006/relationships/viewProps" Target="/ppt/viewProps.xml" Id="Rfa280e3638004623" /><Relationship Type="http://schemas.openxmlformats.org/officeDocument/2006/relationships/tableStyles" Target="/ppt/tableStyles.xml" Id="R93feec02e9a74957" /><Relationship Type="http://schemas.openxmlformats.org/officeDocument/2006/relationships/slide" Target="/ppt/slides/slide1.xml" Id="R5e7f7c80badc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e281fda7b94d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aa89766f4642f5" /><Relationship Type="http://schemas.openxmlformats.org/officeDocument/2006/relationships/notesMaster" Target="/ppt/notesMasters/notesMaster1.xml" Id="Rc32f304cba404e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Agentic Agile book, Chapter 5: 3-4-3, four dynamic governance artifacts, and SCOPE-V.</a:t>
            </a:r>
          </a:p>
          <a:p xmlns:a="http://schemas.openxmlformats.org/drawingml/2006/main">
            <a:r>
              <a:t>- Agentic Agile book, Chapter 25: IWE, Document Map and Code Map.</a:t>
            </a:r>
          </a:p>
          <a:p xmlns:a="http://schemas.openxmlformats.org/drawingml/2006/main">
            <a:r>
              <a:t>- Agentic Agile book, Chapter 26: Basic Memory and evidence-gated learning promotion.</a:t>
            </a:r>
          </a:p>
          <a:p xmlns:a="http://schemas.openxmlformats.org/drawingml/2006/main">
            <a:r>
              <a:t>- Visual asset: original line-icon strip generated for this presentation; it represents generic roles and governance artifacts, not real individuals or products.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Read top-to-bottom: the value stream is the operating surface, cards show where the three autonomy mechanisms occur, and rails show the people, organization, process and tools that make them governable.</a:t>
            </a:r>
          </a:p>
          <a:p xmlns:a="http://schemas.openxmlformats.org/drawingml/2006/main">
            <a:r>
              <a:t>- The three avatar icons denote IO, OA and AS. The four artifact icons denote Intent Graph, Intent Contract, Constraint Matrix and Evidence.</a:t>
            </a:r>
          </a:p>
          <a:p xmlns:a="http://schemas.openxmlformats.org/drawingml/2006/main">
            <a:r>
              <a:t>- Judge improvement with comparable work and the same risk boundary: shorter end-to-end lead time must be accompanied by evidence, quality and governance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91be2a9874d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28888889334fdd" /><Relationship Type="http://schemas.openxmlformats.org/officeDocument/2006/relationships/slideLayout" Target="/ppt/slideLayouts/slideLayout1.xml" Id="R557587c33ea8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587c33ea8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42cc883574786" /><Relationship Type="http://schemas.openxmlformats.org/officeDocument/2006/relationships/image" Target="/ppt/media/image.png" Id="R321c6c05773c44c2" /><Relationship Type="http://schemas.openxmlformats.org/officeDocument/2006/relationships/image" Target="/ppt/media/image2.png" Id="R95ab84ab1e364ad8" /><Relationship Type="http://schemas.openxmlformats.org/officeDocument/2006/relationships/image" Target="/ppt/media/image3.png" Id="Re4c383fc5188496a" /><Relationship Type="http://schemas.openxmlformats.org/officeDocument/2006/relationships/image" Target="/ppt/media/image4.png" Id="Rc88403003ea34939" /><Relationship Type="http://schemas.openxmlformats.org/officeDocument/2006/relationships/image" Target="/ppt/media/image5.png" Id="R2ba19e4d210a4000" /><Relationship Type="http://schemas.openxmlformats.org/officeDocument/2006/relationships/image" Target="/ppt/media/image6.png" Id="Rd3fc0cba07af44e6" /><Relationship Type="http://schemas.openxmlformats.org/officeDocument/2006/relationships/image" Target="/ppt/media/image7.png" Id="R4eb4eb77cfaa481f" /><Relationship Type="http://schemas.openxmlformats.org/officeDocument/2006/relationships/notesSlide" Target="/ppt/notesSlides/notesSlide1.xml" Id="R5128e7d50cf0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SDLC：三大自治沿价值流递进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从客户需求提出到对外发布，3 个角色、4 大工件、3 大自治机制与 SCOPE-V 同步嵌入。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hase-选对价值流">
            <a:extLst xmlns:a="http://schemas.openxmlformats.org/drawingml/2006/main"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ase-time-选对价值流">
            <a:extLst xmlns:a="http://schemas.openxmlformats.org/drawingml/2006/main"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0" name="phase-title-选对价值流">
            <a:extLst xmlns:a="http://schemas.openxmlformats.org/drawingml/2006/main"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 xmlns:a="http://schemas.openxmlformats.org/drawingml/2006/main"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Owner：目标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护栏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：Specify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Intent Graph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IWE</a:t>
            </a:r>
          </a:p>
        </p:txBody>
      </p:sp>
      <p:sp>
        <p:nvSpPr>
          <p:cNvPr id="12" name="phas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ase-tim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4" name="phase-titl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 xmlns:a="http://schemas.openxmlformats.org/drawingml/2006/main"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：Contract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AC；OA：约束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SCOPE-V：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Constrain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Orchestrate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Contract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Constraint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 Work Graph</a:t>
            </a:r>
          </a:p>
        </p:txBody>
      </p:sp>
      <p:sp>
        <p:nvSpPr>
          <p:cNvPr id="16" name="phas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hase-tim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对抗自净</a:t>
            </a:r>
          </a:p>
        </p:txBody>
      </p:sp>
      <p:sp>
        <p:nvSpPr>
          <p:cNvPr id="18" name="phase-titl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：实现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SIT；OA：Harness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：Prove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↔ Evolve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Code Map + </a:t>
            </a: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phas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hase-tim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HITL 裁决</a:t>
            </a:r>
          </a:p>
        </p:txBody>
      </p:sp>
      <p:sp>
        <p:nvSpPr>
          <p:cNvPr id="22" name="phase-titl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：集成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回归；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Telemetry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Memory</a:t>
            </a:r>
          </a:p>
        </p:txBody>
      </p:sp>
      <p:sp>
        <p:nvSpPr>
          <p:cNvPr id="24" name="four-dim-title">
            <a:extLst xmlns:a="http://schemas.openxmlformats.org/drawingml/2006/main"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的四维嵌入：角色、工件与自治都沿同一条价值流运行</a:t>
            </a:r>
          </a:p>
        </p:txBody>
      </p:sp>
      <p:sp>
        <p:nvSpPr>
          <p:cNvPr id="25" name="rail-人员">
            <a:extLst xmlns:a="http://schemas.openxmlformats.org/drawingml/2006/main"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ail-chip-人员">
            <a:extLst xmlns:a="http://schemas.openxmlformats.org/drawingml/2006/main"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B96800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ail-label-人员">
            <a:extLst xmlns:a="http://schemas.openxmlformats.org/drawingml/2006/main"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 xmlns:a="http://schemas.openxmlformats.org/drawingml/2006/main"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3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主导需求、定义与发布裁决；</a:t>
            </a: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贯穿控制与编排；</a:t>
            </a: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承担编码、测试、集成的受约束执行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29" name="rail-组织">
            <a:extLst xmlns:a="http://schemas.openxmlformats.org/drawingml/2006/main"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ail-chip-组织">
            <a:extLst xmlns:a="http://schemas.openxmlformats.org/drawingml/2006/main"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ail-label-组织">
            <a:extLst xmlns:a="http://schemas.openxmlformats.org/drawingml/2006/main"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 xmlns:a="http://schemas.openxmlformats.org/drawingml/2006/main"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 xmlns:a="http://schemas.openxmlformats.org/drawingml/2006/main"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ail-chip-流程">
            <a:extLst xmlns:a="http://schemas.openxmlformats.org/drawingml/2006/main"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1B9D6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ail-label-流程">
            <a:extLst xmlns:a="http://schemas.openxmlformats.org/drawingml/2006/main"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 xmlns:a="http://schemas.openxmlformats.org/drawingml/2006/main"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2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的阶段落点：Specify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Constrain / Orchestrate → Prove ↔ Evolve → Verify →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Telemetry；每一步都有启动条件、停止条件与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Evidence。</a:t>
            </a:r>
          </a:p>
        </p:txBody>
      </p:sp>
      <p:sp>
        <p:nvSpPr>
          <p:cNvPr id="37" name="rail-工具">
            <a:extLst xmlns:a="http://schemas.openxmlformats.org/drawingml/2006/main"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ail-chip-工具">
            <a:extLst xmlns:a="http://schemas.openxmlformats.org/drawingml/2006/main"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ail-label-工具">
            <a:extLst xmlns:a="http://schemas.openxmlformats.org/drawingml/2006/main"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工件·工具</a:t>
            </a:r>
          </a:p>
        </p:txBody>
      </p:sp>
      <p:sp>
        <p:nvSpPr>
          <p:cNvPr id="40" name="rail-body-工具">
            <a:extLst xmlns:a="http://schemas.openxmlformats.org/drawingml/2006/main"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四大工件：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意图图谱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意图契约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约束矩阵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；IWE×Code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Map、Harness、Memory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、Telemetry</a:t>
            </a:r>
          </a:p>
        </p:txBody>
      </p:sp>
      <p:sp>
        <p:nvSpPr>
          <p:cNvPr id="41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1816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 xmlns:a="http://schemas.openxmlformats.org/drawingml/2006/main"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5816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of-head">
            <a:extLst xmlns:a="http://schemas.openxmlformats.org/drawingml/2006/main"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 xmlns:a="http://schemas.openxmlformats.org/drawingml/2006/main"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124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Lead Time ｜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配套：C&amp;A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%、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首次通过、返工、逃逸缺陷</a:t>
            </a:r>
            <a:endParaRPr sz="1200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vs.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趋势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Contract / Evidence / Telemetry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952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c6c05773c44c2"/>
          <a:stretch xmlns:a="http://schemas.openxmlformats.org/drawingml/2006/main"/>
        </p:blipFill>
        <p:spPr>
          <a:xfrm xmlns:a="http://schemas.openxmlformats.org/drawingml/2006/main">
            <a:off x="10349120" y="3324225"/>
            <a:ext cx="161511" cy="247650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b84ab1e364ad8"/>
          <a:stretch xmlns:a="http://schemas.openxmlformats.org/drawingml/2006/main"/>
        </p:blipFill>
        <p:spPr>
          <a:xfrm xmlns:a="http://schemas.openxmlformats.org/drawingml/2006/main">
            <a:off x="10701545" y="3324225"/>
            <a:ext cx="161511" cy="247650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383fc5188496a"/>
          <a:stretch xmlns:a="http://schemas.openxmlformats.org/drawingml/2006/main"/>
        </p:blipFill>
        <p:spPr>
          <a:xfrm xmlns:a="http://schemas.openxmlformats.org/drawingml/2006/main">
            <a:off x="11048586" y="3324225"/>
            <a:ext cx="172278" cy="247650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403003ea34939"/>
          <a:stretch xmlns:a="http://schemas.openxmlformats.org/drawingml/2006/main"/>
        </p:blipFill>
        <p:spPr>
          <a:xfrm xmlns:a="http://schemas.openxmlformats.org/drawingml/2006/main">
            <a:off x="2694910" y="1638300"/>
            <a:ext cx="172779" cy="24765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19e4d210a4000"/>
          <a:stretch xmlns:a="http://schemas.openxmlformats.org/drawingml/2006/main"/>
        </p:blipFill>
        <p:spPr>
          <a:xfrm xmlns:a="http://schemas.openxmlformats.org/drawingml/2006/main">
            <a:off x="5342860" y="1638300"/>
            <a:ext cx="172779" cy="247650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c0cba07af44e6"/>
          <a:stretch xmlns:a="http://schemas.openxmlformats.org/drawingml/2006/main"/>
        </p:blipFill>
        <p:spPr>
          <a:xfrm xmlns:a="http://schemas.openxmlformats.org/drawingml/2006/main">
            <a:off x="7990810" y="1638300"/>
            <a:ext cx="172779" cy="247650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4eb77cfaa481f"/>
          <a:stretch xmlns:a="http://schemas.openxmlformats.org/drawingml/2006/main"/>
        </p:blipFill>
        <p:spPr>
          <a:xfrm xmlns:a="http://schemas.openxmlformats.org/drawingml/2006/main">
            <a:off x="10633001" y="1638300"/>
            <a:ext cx="184298" cy="247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1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2026-08-26T02:55:48.7990000Z</dcterms:created>
  <dcterms:modified xsi:type="dcterms:W3CDTF">2026-08-26T02:55:48.7990000Z</dcterms:modified>
</coreProperties>
</file>