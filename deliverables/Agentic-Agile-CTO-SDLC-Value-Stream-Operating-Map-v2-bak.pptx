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Internal: Agentic Agile book, Chapters 2, 5, 9–17, 16, 25 and 26.</a:t>
            </a:r>
          </a:p>
          <a:p>
            <a:r>
              <a:t>- Lead Time is the agreed end-to-end interval from customer request entering the value-stream boundary to external release.</a:t>
            </a:r>
          </a:p>
          <a:p>
            <a:r>
              <a:t>- C&amp;A% retains the enterprise's existing measurement definition and must be read with quality, risk and cost counter-metrics.</a:t>
            </a:r>
          </a:p>
          <a:p>
            <a:endParaRPr/>
          </a:p>
          <a:p>
            <a:r>
              <a:t>Presenter emphasis:</a:t>
            </a:r>
          </a:p>
          <a:p>
            <a:r>
              <a:t>Read the four phase groups from left to right as eight SDLC stages. At every stage, IO defines or accepts value and risk; OA designs the control conditions; AS executes only within the active envelope. IWE Document Map and Code Map make source facts retrievable, while Basic/Agent Memory preserves task state and candidate learning. Only evidence-backed learning is promoted into reusable rules, tests or Skills. The management question is not whether coding accelerates, but whether the request-to-release Lead Time improves without degrading C&amp;A%, quality, risk, or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1101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SDLC：用一条价值流完成 AI 转型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客户需求提出到对外发布，每一阶段都有责任、边界、Agent 行动、证据与可量化的改善。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1010900" cy="323850"/>
          </a:xfrm>
          <a:prstGeom prst="roundRect">
            <a:avLst>
              <a:gd name="adj" fmla="val 1764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hesis-text">
            <a:extLst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10620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low-arrow-2">
            <a:extLst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noGrp="1"/>
          </p:cNvSpPr>
          <p:nvPr/>
        </p:nvSpPr>
        <p:spPr>
          <a:xfrm>
            <a:off x="586740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low-arrow-3">
            <a:extLst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hase-选对价值流">
            <a:extLst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FFF4E8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hase-time-选对价值流">
            <a:extLst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需求形成</a:t>
            </a:r>
          </a:p>
        </p:txBody>
      </p:sp>
      <p:sp>
        <p:nvSpPr>
          <p:cNvPr id="10" name="phase-title-选对价值流">
            <a:extLst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IO：价值、护栏、假设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Agent：资料、访谈、反例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phase-跑通受控闭环">
            <a:extLst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noGrp="1"/>
          </p:cNvSpPr>
          <p:nvPr/>
        </p:nvSpPr>
        <p:spPr>
          <a:xfrm>
            <a:off x="32385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phase-time-跑通受控闭环">
            <a:extLst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noGrp="1"/>
          </p:cNvSpPr>
          <p:nvPr/>
        </p:nvSpPr>
        <p:spPr>
          <a:xfrm>
            <a:off x="34099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需求定型</a:t>
            </a:r>
          </a:p>
        </p:txBody>
      </p:sp>
      <p:sp>
        <p:nvSpPr>
          <p:cNvPr id="14" name="phase-title-跑通受控闭环">
            <a:extLst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IO：签署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Contract / AC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OA：约束、上下文、Work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Graph</a:t>
            </a:r>
          </a:p>
        </p:txBody>
      </p:sp>
      <p:sp>
        <p:nvSpPr>
          <p:cNvPr id="16" name="phase-让上下文与经验复利">
            <a:extLst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noGrp="1"/>
          </p:cNvSpPr>
          <p:nvPr/>
        </p:nvSpPr>
        <p:spPr>
          <a:xfrm>
            <a:off x="58864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BFD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phase-time-让上下文与经验复利">
            <a:extLst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noGrp="1"/>
          </p:cNvSpPr>
          <p:nvPr/>
        </p:nvSpPr>
        <p:spPr>
          <a:xfrm>
            <a:off x="60579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工程闭环</a:t>
            </a:r>
          </a:p>
        </p:txBody>
      </p:sp>
      <p:sp>
        <p:nvSpPr>
          <p:cNvPr id="18" name="phase-title-让上下文与经验复利">
            <a:extLst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noGrp="1"/>
          </p:cNvSpPr>
          <p:nvPr/>
        </p:nvSpPr>
        <p:spPr>
          <a:xfrm>
            <a:off x="60579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AS：受控实现与测试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OA：Harness、Prove / Evolve</a:t>
            </a:r>
          </a:p>
        </p:txBody>
      </p:sp>
      <p:sp>
        <p:nvSpPr>
          <p:cNvPr id="20" name="phase-扩大可复制能力">
            <a:extLst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CF8F3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phase-time-扩大可复制能力">
            <a:extLst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noGrp="1"/>
          </p:cNvSpPr>
          <p:nvPr/>
        </p:nvSpPr>
        <p:spPr>
          <a:xfrm>
            <a:off x="87058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交付裁决</a:t>
            </a:r>
          </a:p>
        </p:txBody>
      </p:sp>
      <p:sp>
        <p:nvSpPr>
          <p:cNvPr id="22" name="phase-title-扩大可复制能力">
            <a:extLst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AS：集成、回归与补证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OA：Verify、发布、回退</a:t>
            </a:r>
          </a:p>
        </p:txBody>
      </p:sp>
      <p:sp>
        <p:nvSpPr>
          <p:cNvPr id="24" name="four-dim-title">
            <a:extLst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不是阶段外的附加治理，而是嵌入每一个 SDLC 阶段的运行方式</a:t>
            </a:r>
          </a:p>
        </p:txBody>
      </p:sp>
      <p:sp>
        <p:nvSpPr>
          <p:cNvPr id="25" name="rail-人员">
            <a:extLst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ail-chip-人员">
            <a:extLst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B96800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ail-label-人员">
            <a:extLst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noGrp="1"/>
          </p:cNvSpPr>
          <p:nvPr/>
        </p:nvSpPr>
        <p:spPr>
          <a:xfrm>
            <a:off x="1828800" y="33432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主导需求、定义与发布裁决；OA 贯穿控制与编排；AS 承担编码、测试、集成的受约束执行。</a:t>
            </a:r>
          </a:p>
        </p:txBody>
      </p:sp>
      <p:sp>
        <p:nvSpPr>
          <p:cNvPr id="29" name="rail-组织">
            <a:extLst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ail-chip-组织">
            <a:extLst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ail-label-组织">
            <a:extLst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noGrp="1"/>
          </p:cNvSpPr>
          <p:nvPr/>
        </p:nvSpPr>
        <p:spPr>
          <a:xfrm>
            <a:off x="1828800" y="3752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ail-chip-流程">
            <a:extLst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1B9D6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ail-label-流程">
            <a:extLst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noGrp="1"/>
          </p:cNvSpPr>
          <p:nvPr/>
        </p:nvSpPr>
        <p:spPr>
          <a:xfrm>
            <a:off x="1828800" y="41624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Specify / Constrain / Orchestrate → Prove / Evolve → Verify：每一步都有启动条件、停止条件与 Evidence。</a:t>
            </a:r>
          </a:p>
        </p:txBody>
      </p:sp>
      <p:sp>
        <p:nvSpPr>
          <p:cNvPr id="37" name="rail-工具">
            <a:extLst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ail-chip-工具">
            <a:extLst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835C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ail-label-工具">
            <a:extLst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Graph / Contract / Constraint / Evidence + IWE×Code Map + Basic Memory：让事实随任务更新，不散落在聊天中。</a:t>
            </a:r>
          </a:p>
        </p:txBody>
      </p:sp>
      <p:sp>
        <p:nvSpPr>
          <p:cNvPr id="41" name="outcome-panel">
            <a:extLst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51816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outcome-head">
            <a:extLst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5581650" cy="1219200"/>
          </a:xfrm>
          <a:prstGeom prst="roundRect">
            <a:avLst>
              <a:gd name="adj" fmla="val 7813"/>
            </a:avLst>
          </a:prstGeom>
          <a:solidFill>
            <a:srgbClr val="F7FB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proof-head">
            <a:extLst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2329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noGrp="1"/>
          </p:cNvSpPr>
          <p:nvPr/>
        </p:nvSpPr>
        <p:spPr>
          <a:xfrm>
            <a:off x="6229350" y="5514975"/>
            <a:ext cx="5124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 Lead Time ｜ 配套：C&amp;A%、首次通过、返工、逃逸缺陷</a:t>
            </a: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 vs. 趋势 + Contract / Evidence / Telemetry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noGrp="1"/>
          </p:cNvSpPr>
          <p:nvPr/>
        </p:nvSpPr>
        <p:spPr>
          <a:xfrm>
            <a:off x="590550" y="6486525"/>
            <a:ext cx="952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Macintosh PowerPoint</Application>
  <DocSecurity>0</DocSecurity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Helvetica Neue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Lijie</cp:lastModifiedBy>
  <cp:revision>1</cp:revision>
  <dcterms:created xsi:type="dcterms:W3CDTF">2026-08-26T02:04:24Z</dcterms:created>
  <dcterms:modified xsi:type="dcterms:W3CDTF">2026-08-26T02:14:19Z</dcterms:modified>
</cp:coreProperties>
</file>