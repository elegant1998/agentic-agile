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99c03e1cea4fb7" /><Relationship Type="http://schemas.openxmlformats.org/officeDocument/2006/relationships/extended-properties" Target="/docProps/app.xml" Id="Rc3ee4df5268c423f" /><Relationship Type="http://schemas.openxmlformats.org/officeDocument/2006/relationships/officeDocument" Target="/ppt/presentation.xml" Id="Rdac8111fc999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7398c5cd4a4912"/>
  </p:sldMasterIdLst>
  <p:notesMasterIdLst>
    <p:notesMasterId xmlns:r="http://schemas.openxmlformats.org/officeDocument/2006/relationships" r:id="Re20c78bad1a34c48"/>
  </p:notesMasterIdLst>
  <p:sldIdLst>
    <p:sldId xmlns:r="http://schemas.openxmlformats.org/officeDocument/2006/relationships" id="256" r:id="Ra5ce477c2e464d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c743b915f449f5" /><Relationship Type="http://schemas.openxmlformats.org/officeDocument/2006/relationships/slideMaster" Target="/ppt/slideMasters/slideMaster1.xml" Id="R617398c5cd4a4912" /><Relationship Type="http://schemas.openxmlformats.org/officeDocument/2006/relationships/notesMaster" Target="/ppt/notesMasters/notesMaster1.xml" Id="Re20c78bad1a34c48" /><Relationship Type="http://schemas.openxmlformats.org/officeDocument/2006/relationships/presProps" Target="/ppt/presProps.xml" Id="R8efe65e570ae4484" /><Relationship Type="http://schemas.openxmlformats.org/officeDocument/2006/relationships/tableStyles" Target="/ppt/tableStyles.xml" Id="R4d96a9d421ba4646" /><Relationship Type="http://schemas.openxmlformats.org/officeDocument/2006/relationships/slide" Target="/ppt/slides/slide1.xml" Id="Ra5ce477c2e46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4f67271c9c40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7ac1d483b447d" /><Relationship Type="http://schemas.openxmlformats.org/officeDocument/2006/relationships/notesMaster" Target="/ppt/notesMasters/notesMaster1.xml" Id="Rede1e5a95028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Agile Book, Chapter 5: the four dynamic governance artifacts.</a:t>
            </a:r>
          </a:p>
          <a:p xmlns:a="http://schemas.openxmlformats.org/drawingml/2006/main">
            <a:r>
              <a:t>- Agentic Agile Book, Chapter 7: Intent Graph and Intent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Use this figure to make the governance artifacts concrete. A task should not begin with only a prompt: it starts from a traceable intent, an agreed execution contract and executable constraints.</a:t>
            </a:r>
          </a:p>
          <a:p xmlns:a="http://schemas.openxmlformats.org/drawingml/2006/main">
            <a:r>
              <a:t>- Evidence is not a report written after delivery. It is the proof layer that connects results, decisions and exceptions back to the intent and feeds trusted learning into the next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3d839d3934f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413289cc86455d" /><Relationship Type="http://schemas.openxmlformats.org/officeDocument/2006/relationships/slideLayout" Target="/ppt/slideLayouts/slideLayout1.xml" Id="R7202bf09416a49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02bf09416a49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072ec0d6e4442" /><Relationship Type="http://schemas.openxmlformats.org/officeDocument/2006/relationships/notesSlide" Target="/ppt/notesSlides/notesSlide1.xml" Id="Rdf974c37af714e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">
            <a:extLst xmlns:a="http://schemas.openxmlformats.org/drawingml/2006/main">
              <a:ext uri="{FF2B5EF4-FFF2-40B4-BE49-F238E27FC236}">
                <a16:creationId xmlns:a16="http://schemas.microsoft.com/office/drawing/2014/main" id="{E1F4173D-1877-4D37-BA5B-5B6008B7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AGENTIC AGILE 3-4-3  |  GOVERNANCE INTERFACE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7AD817-916B-464E-8D2B-44CCFA1E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Four Dynamic Governance Artifacts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39F6EA6-64F6-4D50-88BC-53DF892B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D617B"/>
                </a:solidFill>
              </a:defRPr>
            </a:pPr>
            <a:r>
              <a:rPr sz="1350">
                <a:solidFill>
                  <a:srgbClr val="4D617B"/>
                </a:solidFill>
              </a:rPr>
              <a:t>What each artifact contains, a representative task example, and the evidence it creates for the next control step.</a:t>
            </a:r>
          </a:p>
        </p:txBody>
      </p:sp>
      <p:sp>
        <p:nvSpPr>
          <p:cNvPr id="4" name="artifact-chain">
            <a:extLst xmlns:a="http://schemas.openxmlformats.org/drawingml/2006/main">
              <a:ext uri="{FF2B5EF4-FFF2-40B4-BE49-F238E27FC236}">
                <a16:creationId xmlns:a16="http://schemas.microsoft.com/office/drawing/2014/main" id="{079883F6-1D47-4C64-8ABB-6EC9889A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05025"/>
            <a:ext cx="8724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7B9EC"/>
            </a:solidFill>
            <a:prstDash val="solid"/>
          </a:ln>
        </p:spPr>
      </p:sp>
      <p:sp>
        <p:nvSpPr>
          <p:cNvPr id="5" name="card-IG">
            <a:extLst xmlns:a="http://schemas.openxmlformats.org/drawingml/2006/main">
              <a:ext uri="{FF2B5EF4-FFF2-40B4-BE49-F238E27FC236}">
                <a16:creationId xmlns:a16="http://schemas.microsoft.com/office/drawing/2014/main" id="{E9DEB06D-8FFE-4735-A9E3-2E1C378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00300" cy="3829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1F2"/>
            </a:solidFill>
            <a:prstDash val="solid"/>
          </a:ln>
        </p:spPr>
      </p:sp>
      <p:sp>
        <p:nvSpPr>
          <p:cNvPr id="6" name="code-IG">
            <a:extLst xmlns:a="http://schemas.openxmlformats.org/drawingml/2006/main">
              <a:ext uri="{FF2B5EF4-FFF2-40B4-BE49-F238E27FC236}">
                <a16:creationId xmlns:a16="http://schemas.microsoft.com/office/drawing/2014/main" id="{45BB70C7-505E-4023-BF99-C490E5B9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AC7"/>
          </a:solidFill>
          <a:ln xmlns:a="http://schemas.openxmlformats.org/drawingml/2006/main" w="9525">
            <a:solidFill>
              <a:srgbClr val="0E7AC7"/>
            </a:solidFill>
            <a:prstDash val="solid"/>
          </a:ln>
        </p:spPr>
      </p:sp>
      <p:sp>
        <p:nvSpPr>
          <p:cNvPr id="7" name="code-text-IG">
            <a:extLst xmlns:a="http://schemas.openxmlformats.org/drawingml/2006/main">
              <a:ext uri="{FF2B5EF4-FFF2-40B4-BE49-F238E27FC236}">
                <a16:creationId xmlns:a16="http://schemas.microsoft.com/office/drawing/2014/main" id="{02A5EBCF-4FBE-460A-8353-4C5868CB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IG</a:t>
            </a:r>
          </a:p>
        </p:txBody>
      </p:sp>
      <p:sp>
        <p:nvSpPr>
          <p:cNvPr id="8" name="title-IG">
            <a:extLst xmlns:a="http://schemas.openxmlformats.org/drawingml/2006/main">
              <a:ext uri="{FF2B5EF4-FFF2-40B4-BE49-F238E27FC236}">
                <a16:creationId xmlns:a16="http://schemas.microsoft.com/office/drawing/2014/main" id="{5B58D301-9D81-4077-90D5-3C4A8F2E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4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F"/>
                </a:solidFill>
              </a:defRPr>
            </a:pPr>
            <a:r>
              <a:rPr sz="1725" b="1">
                <a:solidFill>
                  <a:srgbClr val="10233F"/>
                </a:solidFill>
              </a:rPr>
              <a:t>Intent Graph</a:t>
            </a:r>
          </a:p>
        </p:txBody>
      </p:sp>
      <p:sp>
        <p:nvSpPr>
          <p:cNvPr id="9" name="contains-label-IG">
            <a:extLst xmlns:a="http://schemas.openxmlformats.org/drawingml/2006/main">
              <a:ext uri="{FF2B5EF4-FFF2-40B4-BE49-F238E27FC236}">
                <a16:creationId xmlns:a16="http://schemas.microsoft.com/office/drawing/2014/main" id="{03057769-8C18-4ACB-AF23-C30B9D4F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AC7"/>
                </a:solidFill>
              </a:defRPr>
            </a:pPr>
            <a:r>
              <a:rPr sz="900" b="1">
                <a:solidFill>
                  <a:srgbClr val="0E7AC7"/>
                </a:solidFill>
              </a:rPr>
              <a:t>CONTAINS</a:t>
            </a:r>
          </a:p>
        </p:txBody>
      </p:sp>
      <p:sp>
        <p:nvSpPr>
          <p:cNvPr id="10" name="contains-IG">
            <a:extLst xmlns:a="http://schemas.openxmlformats.org/drawingml/2006/main">
              <a:ext uri="{FF2B5EF4-FFF2-40B4-BE49-F238E27FC236}">
                <a16:creationId xmlns:a16="http://schemas.microsoft.com/office/drawing/2014/main" id="{078241D9-EB44-4E9B-868F-639FA79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Objective &amp; metric</a:t>
            </a:r>
          </a:p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Users &amp; capabilities</a:t>
            </a:r>
          </a:p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Dependencies &amp; decisions</a:t>
            </a:r>
          </a:p>
        </p:txBody>
      </p:sp>
      <p:sp>
        <p:nvSpPr>
          <p:cNvPr id="11" name="example-box-IG">
            <a:extLst xmlns:a="http://schemas.openxmlformats.org/drawingml/2006/main">
              <a:ext uri="{FF2B5EF4-FFF2-40B4-BE49-F238E27FC236}">
                <a16:creationId xmlns:a16="http://schemas.microsoft.com/office/drawing/2014/main" id="{5352C2A4-16AB-421B-92BB-1B8349C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F"/>
          </a:solidFill>
          <a:ln xmlns:a="http://schemas.openxmlformats.org/drawingml/2006/main" w="9525">
            <a:solidFill>
              <a:srgbClr val="EDF7FF"/>
            </a:solidFill>
            <a:prstDash val="solid"/>
          </a:ln>
        </p:spPr>
      </p:sp>
      <p:sp>
        <p:nvSpPr>
          <p:cNvPr id="12" name="example-label-IG">
            <a:extLst xmlns:a="http://schemas.openxmlformats.org/drawingml/2006/main">
              <a:ext uri="{FF2B5EF4-FFF2-40B4-BE49-F238E27FC236}">
                <a16:creationId xmlns:a16="http://schemas.microsoft.com/office/drawing/2014/main" id="{78673AA0-6537-4D4C-8698-721CE2DC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AC7"/>
                </a:solidFill>
              </a:defRPr>
            </a:pPr>
            <a:r>
              <a:rPr sz="825" b="1">
                <a:solidFill>
                  <a:srgbClr val="0E7AC7"/>
                </a:solidFill>
              </a:rPr>
              <a:t>TASK EXAMPLE</a:t>
            </a:r>
          </a:p>
        </p:txBody>
      </p:sp>
      <p:sp>
        <p:nvSpPr>
          <p:cNvPr id="13" name="example-IG">
            <a:extLst xmlns:a="http://schemas.openxmlformats.org/drawingml/2006/main">
              <a:ext uri="{FF2B5EF4-FFF2-40B4-BE49-F238E27FC236}">
                <a16:creationId xmlns:a16="http://schemas.microsoft.com/office/drawing/2014/main" id="{2897C1D4-5795-40F7-BF97-95A7962A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  <a:r>
              <a:rPr sz="1050">
                <a:solidFill>
                  <a:srgbClr val="18324D"/>
                </a:solidFill>
              </a:rPr>
              <a:t>Reduce high-value reimbursement cycle time by 30% without increasing error rate.</a:t>
            </a:r>
          </a:p>
        </p:txBody>
      </p:sp>
      <p:sp>
        <p:nvSpPr>
          <p:cNvPr id="14" name="output-label-IG">
            <a:extLst xmlns:a="http://schemas.openxmlformats.org/drawingml/2006/main">
              <a:ext uri="{FF2B5EF4-FFF2-40B4-BE49-F238E27FC236}">
                <a16:creationId xmlns:a16="http://schemas.microsoft.com/office/drawing/2014/main" id="{52A75FD2-506E-4123-AFB0-628A4F1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AC7"/>
                </a:solidFill>
              </a:defRPr>
            </a:pPr>
            <a:r>
              <a:rPr sz="825" b="1">
                <a:solidFill>
                  <a:srgbClr val="0E7AC7"/>
                </a:solidFill>
              </a:rPr>
              <a:t>OUTPUT</a:t>
            </a:r>
          </a:p>
        </p:txBody>
      </p:sp>
      <p:sp>
        <p:nvSpPr>
          <p:cNvPr id="15" name="output-IG">
            <a:extLst xmlns:a="http://schemas.openxmlformats.org/drawingml/2006/main">
              <a:ext uri="{FF2B5EF4-FFF2-40B4-BE49-F238E27FC236}">
                <a16:creationId xmlns:a16="http://schemas.microsoft.com/office/drawing/2014/main" id="{9E7F045C-263F-4344-B774-1A129C7F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rPr sz="1200" b="1">
                <a:solidFill>
                  <a:srgbClr val="10233F"/>
                </a:solidFill>
              </a:rPr>
              <a:t>Traceable goal-to-task map</a:t>
            </a:r>
          </a:p>
        </p:txBody>
      </p:sp>
      <p:sp>
        <p:nvSpPr>
          <p:cNvPr id="16" name="card-IC">
            <a:extLst xmlns:a="http://schemas.openxmlformats.org/drawingml/2006/main">
              <a:ext uri="{FF2B5EF4-FFF2-40B4-BE49-F238E27FC236}">
                <a16:creationId xmlns:a16="http://schemas.microsoft.com/office/drawing/2014/main" id="{FA2E1E89-7841-41B6-B9BF-8A57C9C9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400300" cy="3829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1F2"/>
            </a:solidFill>
            <a:prstDash val="solid"/>
          </a:ln>
        </p:spPr>
      </p:sp>
      <p:sp>
        <p:nvSpPr>
          <p:cNvPr id="17" name="code-IC">
            <a:extLst xmlns:a="http://schemas.openxmlformats.org/drawingml/2006/main">
              <a:ext uri="{FF2B5EF4-FFF2-40B4-BE49-F238E27FC236}">
                <a16:creationId xmlns:a16="http://schemas.microsoft.com/office/drawing/2014/main" id="{C0FFA84A-B0C5-4C5C-8BD8-426AE2E8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26CE6"/>
          </a:solidFill>
          <a:ln xmlns:a="http://schemas.openxmlformats.org/drawingml/2006/main" w="9525">
            <a:solidFill>
              <a:srgbClr val="226CE6"/>
            </a:solidFill>
            <a:prstDash val="solid"/>
          </a:ln>
        </p:spPr>
      </p:sp>
      <p:sp>
        <p:nvSpPr>
          <p:cNvPr id="18" name="code-text-IC">
            <a:extLst xmlns:a="http://schemas.openxmlformats.org/drawingml/2006/main">
              <a:ext uri="{FF2B5EF4-FFF2-40B4-BE49-F238E27FC236}">
                <a16:creationId xmlns:a16="http://schemas.microsoft.com/office/drawing/2014/main" id="{F1382112-4510-4FE5-AC84-EEAA6601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71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IC</a:t>
            </a:r>
          </a:p>
        </p:txBody>
      </p:sp>
      <p:sp>
        <p:nvSpPr>
          <p:cNvPr id="19" name="title-IC">
            <a:extLst xmlns:a="http://schemas.openxmlformats.org/drawingml/2006/main">
              <a:ext uri="{FF2B5EF4-FFF2-40B4-BE49-F238E27FC236}">
                <a16:creationId xmlns:a16="http://schemas.microsoft.com/office/drawing/2014/main" id="{D9F69E16-E60C-4B0B-A7D9-0E96E751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24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F"/>
                </a:solidFill>
              </a:defRPr>
            </a:pPr>
            <a:r>
              <a:rPr sz="1725" b="1">
                <a:solidFill>
                  <a:srgbClr val="10233F"/>
                </a:solidFill>
              </a:rPr>
              <a:t>Intent Contract</a:t>
            </a:r>
          </a:p>
        </p:txBody>
      </p:sp>
      <p:sp>
        <p:nvSpPr>
          <p:cNvPr id="20" name="contains-label-IC">
            <a:extLst xmlns:a="http://schemas.openxmlformats.org/drawingml/2006/main">
              <a:ext uri="{FF2B5EF4-FFF2-40B4-BE49-F238E27FC236}">
                <a16:creationId xmlns:a16="http://schemas.microsoft.com/office/drawing/2014/main" id="{E9D154E7-F9B7-4AB9-97E3-73D4F789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6CE6"/>
                </a:solidFill>
              </a:defRPr>
            </a:pPr>
            <a:r>
              <a:rPr sz="900" b="1">
                <a:solidFill>
                  <a:srgbClr val="226CE6"/>
                </a:solidFill>
              </a:rPr>
              <a:t>CONTAINS</a:t>
            </a:r>
          </a:p>
        </p:txBody>
      </p:sp>
      <p:sp>
        <p:nvSpPr>
          <p:cNvPr id="21" name="contains-IC">
            <a:extLst xmlns:a="http://schemas.openxmlformats.org/drawingml/2006/main">
              <a:ext uri="{FF2B5EF4-FFF2-40B4-BE49-F238E27FC236}">
                <a16:creationId xmlns:a16="http://schemas.microsoft.com/office/drawing/2014/main" id="{751F2455-65EF-4AA1-B159-531D4B90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Scope / non-goals</a:t>
            </a:r>
          </a:p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Acceptance criteria</a:t>
            </a:r>
          </a:p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Authority &amp; risk boundary</a:t>
            </a:r>
          </a:p>
        </p:txBody>
      </p:sp>
      <p:sp>
        <p:nvSpPr>
          <p:cNvPr id="22" name="example-box-IC">
            <a:extLst xmlns:a="http://schemas.openxmlformats.org/drawingml/2006/main">
              <a:ext uri="{FF2B5EF4-FFF2-40B4-BE49-F238E27FC236}">
                <a16:creationId xmlns:a16="http://schemas.microsoft.com/office/drawing/2014/main" id="{AF97CDBF-87AA-4C92-9DEC-49B7EAF3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766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EEF3FF"/>
            </a:solidFill>
            <a:prstDash val="solid"/>
          </a:ln>
        </p:spPr>
      </p:sp>
      <p:sp>
        <p:nvSpPr>
          <p:cNvPr id="23" name="example-label-IC">
            <a:extLst xmlns:a="http://schemas.openxmlformats.org/drawingml/2006/main">
              <a:ext uri="{FF2B5EF4-FFF2-40B4-BE49-F238E27FC236}">
                <a16:creationId xmlns:a16="http://schemas.microsoft.com/office/drawing/2014/main" id="{4419AC07-1E50-4623-AE13-7FEDA846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26CE6"/>
                </a:solidFill>
              </a:defRPr>
            </a:pPr>
            <a:r>
              <a:rPr sz="825" b="1">
                <a:solidFill>
                  <a:srgbClr val="226CE6"/>
                </a:solidFill>
              </a:rPr>
              <a:t>TASK EXAMPLE</a:t>
            </a:r>
          </a:p>
        </p:txBody>
      </p:sp>
      <p:sp>
        <p:nvSpPr>
          <p:cNvPr id="24" name="example-IC">
            <a:extLst xmlns:a="http://schemas.openxmlformats.org/drawingml/2006/main">
              <a:ext uri="{FF2B5EF4-FFF2-40B4-BE49-F238E27FC236}">
                <a16:creationId xmlns:a16="http://schemas.microsoft.com/office/drawing/2014/main" id="{D5A5B2C0-3C1A-472A-9AEF-30B3036E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  <a:r>
              <a:rPr sz="1050">
                <a:solidFill>
                  <a:srgbClr val="18324D"/>
                </a:solidFill>
              </a:rPr>
              <a:t>T-001: approve high-value reimbursement within the agreed risk envelope.</a:t>
            </a:r>
          </a:p>
        </p:txBody>
      </p:sp>
      <p:sp>
        <p:nvSpPr>
          <p:cNvPr id="25" name="output-label-IC">
            <a:extLst xmlns:a="http://schemas.openxmlformats.org/drawingml/2006/main">
              <a:ext uri="{FF2B5EF4-FFF2-40B4-BE49-F238E27FC236}">
                <a16:creationId xmlns:a16="http://schemas.microsoft.com/office/drawing/2014/main" id="{E5347BE3-EAA4-4AED-AF99-61CCBCE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577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26CE6"/>
                </a:solidFill>
              </a:defRPr>
            </a:pPr>
            <a:r>
              <a:rPr sz="825" b="1">
                <a:solidFill>
                  <a:srgbClr val="226CE6"/>
                </a:solidFill>
              </a:rPr>
              <a:t>OUTPUT</a:t>
            </a:r>
          </a:p>
        </p:txBody>
      </p:sp>
      <p:sp>
        <p:nvSpPr>
          <p:cNvPr id="26" name="output-IC">
            <a:extLst xmlns:a="http://schemas.openxmlformats.org/drawingml/2006/main">
              <a:ext uri="{FF2B5EF4-FFF2-40B4-BE49-F238E27FC236}">
                <a16:creationId xmlns:a16="http://schemas.microsoft.com/office/drawing/2014/main" id="{890C9575-FBC6-4292-9A80-CECF408E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67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rPr sz="1200" b="1">
                <a:solidFill>
                  <a:srgbClr val="10233F"/>
                </a:solidFill>
              </a:rPr>
              <a:t>Signed execution envelope</a:t>
            </a:r>
          </a:p>
        </p:txBody>
      </p:sp>
      <p:sp>
        <p:nvSpPr>
          <p:cNvPr id="27" name="card-CM">
            <a:extLst xmlns:a="http://schemas.openxmlformats.org/drawingml/2006/main">
              <a:ext uri="{FF2B5EF4-FFF2-40B4-BE49-F238E27FC236}">
                <a16:creationId xmlns:a16="http://schemas.microsoft.com/office/drawing/2014/main" id="{5B809991-300D-4301-BDBA-AC77F6C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3829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1F2"/>
            </a:solidFill>
            <a:prstDash val="solid"/>
          </a:ln>
        </p:spPr>
      </p:sp>
      <p:sp>
        <p:nvSpPr>
          <p:cNvPr id="28" name="code-CM">
            <a:extLst xmlns:a="http://schemas.openxmlformats.org/drawingml/2006/main">
              <a:ext uri="{FF2B5EF4-FFF2-40B4-BE49-F238E27FC236}">
                <a16:creationId xmlns:a16="http://schemas.microsoft.com/office/drawing/2014/main" id="{2CF8D3C9-444D-4A6E-94B4-D1921EE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9AA8"/>
          </a:solidFill>
          <a:ln xmlns:a="http://schemas.openxmlformats.org/drawingml/2006/main" w="9525">
            <a:solidFill>
              <a:srgbClr val="0D9AA8"/>
            </a:solidFill>
            <a:prstDash val="solid"/>
          </a:ln>
        </p:spPr>
      </p:sp>
      <p:sp>
        <p:nvSpPr>
          <p:cNvPr id="29" name="code-text-CM">
            <a:extLst xmlns:a="http://schemas.openxmlformats.org/drawingml/2006/main">
              <a:ext uri="{FF2B5EF4-FFF2-40B4-BE49-F238E27FC236}">
                <a16:creationId xmlns:a16="http://schemas.microsoft.com/office/drawing/2014/main" id="{CE9299F8-3EDE-446A-842D-6FB23C5F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CM</a:t>
            </a:r>
          </a:p>
        </p:txBody>
      </p:sp>
      <p:sp>
        <p:nvSpPr>
          <p:cNvPr id="30" name="title-CM">
            <a:extLst xmlns:a="http://schemas.openxmlformats.org/drawingml/2006/main">
              <a:ext uri="{FF2B5EF4-FFF2-40B4-BE49-F238E27FC236}">
                <a16:creationId xmlns:a16="http://schemas.microsoft.com/office/drawing/2014/main" id="{9C433CB4-EA62-4C33-A215-458D4D1C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F"/>
                </a:solidFill>
              </a:defRPr>
            </a:pPr>
            <a:r>
              <a:rPr sz="1725" b="1">
                <a:solidFill>
                  <a:srgbClr val="10233F"/>
                </a:solidFill>
              </a:rPr>
              <a:t>Constraint Matrix</a:t>
            </a:r>
          </a:p>
        </p:txBody>
      </p:sp>
      <p:sp>
        <p:nvSpPr>
          <p:cNvPr id="31" name="contains-label-CM">
            <a:extLst xmlns:a="http://schemas.openxmlformats.org/drawingml/2006/main">
              <a:ext uri="{FF2B5EF4-FFF2-40B4-BE49-F238E27FC236}">
                <a16:creationId xmlns:a16="http://schemas.microsoft.com/office/drawing/2014/main" id="{D87CE062-D0C3-478C-B501-17E8A779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9AA8"/>
                </a:solidFill>
              </a:defRPr>
            </a:pPr>
            <a:r>
              <a:rPr sz="900" b="1">
                <a:solidFill>
                  <a:srgbClr val="0D9AA8"/>
                </a:solidFill>
              </a:rPr>
              <a:t>CONTAINS</a:t>
            </a:r>
          </a:p>
        </p:txBody>
      </p:sp>
      <p:sp>
        <p:nvSpPr>
          <p:cNvPr id="32" name="contains-CM">
            <a:extLst xmlns:a="http://schemas.openxmlformats.org/drawingml/2006/main">
              <a:ext uri="{FF2B5EF4-FFF2-40B4-BE49-F238E27FC236}">
                <a16:creationId xmlns:a16="http://schemas.microsoft.com/office/drawing/2014/main" id="{94E11CA6-2600-420A-BB27-29EE140D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Access / data policies</a:t>
            </a:r>
          </a:p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Must / must-not rules</a:t>
            </a:r>
          </a:p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Thresholds / rollback</a:t>
            </a:r>
          </a:p>
        </p:txBody>
      </p:sp>
      <p:sp>
        <p:nvSpPr>
          <p:cNvPr id="33" name="example-box-CM">
            <a:extLst xmlns:a="http://schemas.openxmlformats.org/drawingml/2006/main">
              <a:ext uri="{FF2B5EF4-FFF2-40B4-BE49-F238E27FC236}">
                <a16:creationId xmlns:a16="http://schemas.microsoft.com/office/drawing/2014/main" id="{679A2287-9DB7-466B-B88C-5AF2DAC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BFC"/>
          </a:solidFill>
          <a:ln xmlns:a="http://schemas.openxmlformats.org/drawingml/2006/main" w="9525">
            <a:solidFill>
              <a:srgbClr val="ECFBFC"/>
            </a:solidFill>
            <a:prstDash val="solid"/>
          </a:ln>
        </p:spPr>
      </p:sp>
      <p:sp>
        <p:nvSpPr>
          <p:cNvPr id="34" name="example-label-CM">
            <a:extLst xmlns:a="http://schemas.openxmlformats.org/drawingml/2006/main">
              <a:ext uri="{FF2B5EF4-FFF2-40B4-BE49-F238E27FC236}">
                <a16:creationId xmlns:a16="http://schemas.microsoft.com/office/drawing/2014/main" id="{08ADF15D-51FA-4F76-95BB-35CF6004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9AA8"/>
                </a:solidFill>
              </a:defRPr>
            </a:pPr>
            <a:r>
              <a:rPr sz="825" b="1">
                <a:solidFill>
                  <a:srgbClr val="0D9AA8"/>
                </a:solidFill>
              </a:rPr>
              <a:t>TASK EXAMPLE</a:t>
            </a:r>
          </a:p>
        </p:txBody>
      </p:sp>
      <p:sp>
        <p:nvSpPr>
          <p:cNvPr id="35" name="example-CM">
            <a:extLst xmlns:a="http://schemas.openxmlformats.org/drawingml/2006/main">
              <a:ext uri="{FF2B5EF4-FFF2-40B4-BE49-F238E27FC236}">
                <a16:creationId xmlns:a16="http://schemas.microsoft.com/office/drawing/2014/main" id="{9B0ADCBE-1681-45DA-A8E3-DB7F10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00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  <a:r>
              <a:rPr sz="1050">
                <a:solidFill>
                  <a:srgbClr val="18324D"/>
                </a:solidFill>
              </a:rPr>
              <a:t>Amount &gt; $5k needs human approval; never read production PII.</a:t>
            </a:r>
          </a:p>
        </p:txBody>
      </p:sp>
      <p:sp>
        <p:nvSpPr>
          <p:cNvPr id="36" name="output-label-CM">
            <a:extLst xmlns:a="http://schemas.openxmlformats.org/drawingml/2006/main">
              <a:ext uri="{FF2B5EF4-FFF2-40B4-BE49-F238E27FC236}">
                <a16:creationId xmlns:a16="http://schemas.microsoft.com/office/drawing/2014/main" id="{6DF2B62A-53C6-47D7-A993-B497DE98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9AA8"/>
                </a:solidFill>
              </a:defRPr>
            </a:pPr>
            <a:r>
              <a:rPr sz="825" b="1">
                <a:solidFill>
                  <a:srgbClr val="0D9AA8"/>
                </a:solidFill>
              </a:rPr>
              <a:t>OUTPUT</a:t>
            </a:r>
          </a:p>
        </p:txBody>
      </p:sp>
      <p:sp>
        <p:nvSpPr>
          <p:cNvPr id="37" name="output-CM">
            <a:extLst xmlns:a="http://schemas.openxmlformats.org/drawingml/2006/main">
              <a:ext uri="{FF2B5EF4-FFF2-40B4-BE49-F238E27FC236}">
                <a16:creationId xmlns:a16="http://schemas.microsoft.com/office/drawing/2014/main" id="{9E58A112-3164-41EE-A4E5-1EE8647D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rPr sz="1200" b="1">
                <a:solidFill>
                  <a:srgbClr val="10233F"/>
                </a:solidFill>
              </a:rPr>
              <a:t>Executable guardrails</a:t>
            </a:r>
          </a:p>
        </p:txBody>
      </p:sp>
      <p:sp>
        <p:nvSpPr>
          <p:cNvPr id="38" name="card-EB">
            <a:extLst xmlns:a="http://schemas.openxmlformats.org/drawingml/2006/main">
              <a:ext uri="{FF2B5EF4-FFF2-40B4-BE49-F238E27FC236}">
                <a16:creationId xmlns:a16="http://schemas.microsoft.com/office/drawing/2014/main" id="{91B243C0-F932-4F44-A94F-966D147E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2400300" cy="3829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1F2"/>
            </a:solidFill>
            <a:prstDash val="solid"/>
          </a:ln>
        </p:spPr>
      </p:sp>
      <p:sp>
        <p:nvSpPr>
          <p:cNvPr id="39" name="code-EB">
            <a:extLst xmlns:a="http://schemas.openxmlformats.org/drawingml/2006/main">
              <a:ext uri="{FF2B5EF4-FFF2-40B4-BE49-F238E27FC236}">
                <a16:creationId xmlns:a16="http://schemas.microsoft.com/office/drawing/2014/main" id="{192EC92E-E367-423D-B76A-303D4C7B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457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8657"/>
          </a:solidFill>
          <a:ln xmlns:a="http://schemas.openxmlformats.org/drawingml/2006/main" w="9525">
            <a:solidFill>
              <a:srgbClr val="168657"/>
            </a:solidFill>
            <a:prstDash val="solid"/>
          </a:ln>
        </p:spPr>
      </p:sp>
      <p:sp>
        <p:nvSpPr>
          <p:cNvPr id="40" name="code-text-EB">
            <a:extLst xmlns:a="http://schemas.openxmlformats.org/drawingml/2006/main">
              <a:ext uri="{FF2B5EF4-FFF2-40B4-BE49-F238E27FC236}">
                <a16:creationId xmlns:a16="http://schemas.microsoft.com/office/drawing/2014/main" id="{EF617280-C5BC-4CFC-812A-7A9A0B77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EB</a:t>
            </a:r>
          </a:p>
        </p:txBody>
      </p:sp>
      <p:sp>
        <p:nvSpPr>
          <p:cNvPr id="41" name="title-EB">
            <a:extLst xmlns:a="http://schemas.openxmlformats.org/drawingml/2006/main">
              <a:ext uri="{FF2B5EF4-FFF2-40B4-BE49-F238E27FC236}">
                <a16:creationId xmlns:a16="http://schemas.microsoft.com/office/drawing/2014/main" id="{7B2ACDA3-F745-452D-B005-C2D016C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24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F"/>
                </a:solidFill>
              </a:defRPr>
            </a:pPr>
            <a:r>
              <a:rPr sz="1725" b="1">
                <a:solidFill>
                  <a:srgbClr val="10233F"/>
                </a:solidFill>
              </a:rPr>
              <a:t>Evidence</a:t>
            </a:r>
          </a:p>
        </p:txBody>
      </p:sp>
      <p:sp>
        <p:nvSpPr>
          <p:cNvPr id="42" name="contains-label-EB">
            <a:extLst xmlns:a="http://schemas.openxmlformats.org/drawingml/2006/main">
              <a:ext uri="{FF2B5EF4-FFF2-40B4-BE49-F238E27FC236}">
                <a16:creationId xmlns:a16="http://schemas.microsoft.com/office/drawing/2014/main" id="{F1E7F2EE-4BA5-41A9-A2C8-788B58FE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8657"/>
                </a:solidFill>
              </a:defRPr>
            </a:pPr>
            <a:r>
              <a:rPr sz="900" b="1">
                <a:solidFill>
                  <a:srgbClr val="168657"/>
                </a:solidFill>
              </a:rPr>
              <a:t>CONTAINS</a:t>
            </a:r>
          </a:p>
        </p:txBody>
      </p:sp>
      <p:sp>
        <p:nvSpPr>
          <p:cNvPr id="43" name="contains-EB">
            <a:extLst xmlns:a="http://schemas.openxmlformats.org/drawingml/2006/main">
              <a:ext uri="{FF2B5EF4-FFF2-40B4-BE49-F238E27FC236}">
                <a16:creationId xmlns:a16="http://schemas.microsoft.com/office/drawing/2014/main" id="{226072FC-214B-46C9-9883-C272CA0C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Tests / evaluation</a:t>
            </a:r>
          </a:p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Traces / citations</a:t>
            </a:r>
          </a:p>
          <a:p xmlns:a="http://schemas.openxmlformats.org/drawingml/2006/main">
            <a:pPr>
              <a:defRPr sz="1200">
                <a:solidFill>
                  <a:srgbClr val="243B57"/>
                </a:solidFill>
              </a:defRPr>
            </a:pPr>
            <a:r>
              <a:rPr sz="1200">
                <a:solidFill>
                  <a:srgbClr val="243B57"/>
                </a:solidFill>
              </a:rPr>
              <a:t>• Decisions / exceptions</a:t>
            </a:r>
          </a:p>
        </p:txBody>
      </p:sp>
      <p:sp>
        <p:nvSpPr>
          <p:cNvPr id="44" name="example-box-EB">
            <a:extLst xmlns:a="http://schemas.openxmlformats.org/drawingml/2006/main">
              <a:ext uri="{FF2B5EF4-FFF2-40B4-BE49-F238E27FC236}">
                <a16:creationId xmlns:a16="http://schemas.microsoft.com/office/drawing/2014/main" id="{94543566-D3D9-4117-BD73-81C6235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766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9F3"/>
          </a:solidFill>
          <a:ln xmlns:a="http://schemas.openxmlformats.org/drawingml/2006/main" w="9525">
            <a:solidFill>
              <a:srgbClr val="EEF9F3"/>
            </a:solidFill>
            <a:prstDash val="solid"/>
          </a:ln>
        </p:spPr>
      </p:sp>
      <p:sp>
        <p:nvSpPr>
          <p:cNvPr id="45" name="example-label-EB">
            <a:extLst xmlns:a="http://schemas.openxmlformats.org/drawingml/2006/main">
              <a:ext uri="{FF2B5EF4-FFF2-40B4-BE49-F238E27FC236}">
                <a16:creationId xmlns:a16="http://schemas.microsoft.com/office/drawing/2014/main" id="{A3215E21-67BC-4F2C-B7B5-33CBD7EE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909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8657"/>
                </a:solidFill>
              </a:defRPr>
            </a:pPr>
            <a:r>
              <a:rPr sz="825" b="1">
                <a:solidFill>
                  <a:srgbClr val="168657"/>
                </a:solidFill>
              </a:rPr>
              <a:t>TASK EXAMPLE</a:t>
            </a:r>
          </a:p>
        </p:txBody>
      </p:sp>
      <p:sp>
        <p:nvSpPr>
          <p:cNvPr id="46" name="example-EB">
            <a:extLst xmlns:a="http://schemas.openxmlformats.org/drawingml/2006/main">
              <a:ext uri="{FF2B5EF4-FFF2-40B4-BE49-F238E27FC236}">
                <a16:creationId xmlns:a16="http://schemas.microsoft.com/office/drawing/2014/main" id="{047DC006-33F4-4560-ACFA-908E7C97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100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  <a:r>
              <a:rPr sz="1050">
                <a:solidFill>
                  <a:srgbClr val="18324D"/>
                </a:solidFill>
              </a:rPr>
              <a:t>EB-T-001: policy check, test report and approver decision.</a:t>
            </a:r>
          </a:p>
        </p:txBody>
      </p:sp>
      <p:sp>
        <p:nvSpPr>
          <p:cNvPr id="47" name="output-label-EB">
            <a:extLst xmlns:a="http://schemas.openxmlformats.org/drawingml/2006/main">
              <a:ext uri="{FF2B5EF4-FFF2-40B4-BE49-F238E27FC236}">
                <a16:creationId xmlns:a16="http://schemas.microsoft.com/office/drawing/2014/main" id="{3D182F7E-E989-4768-BA44-AAF81870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577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8657"/>
                </a:solidFill>
              </a:defRPr>
            </a:pPr>
            <a:r>
              <a:rPr sz="825" b="1">
                <a:solidFill>
                  <a:srgbClr val="168657"/>
                </a:solidFill>
              </a:rPr>
              <a:t>OUTPUT</a:t>
            </a:r>
          </a:p>
        </p:txBody>
      </p:sp>
      <p:sp>
        <p:nvSpPr>
          <p:cNvPr id="48" name="output-EB">
            <a:extLst xmlns:a="http://schemas.openxmlformats.org/drawingml/2006/main">
              <a:ext uri="{FF2B5EF4-FFF2-40B4-BE49-F238E27FC236}">
                <a16:creationId xmlns:a16="http://schemas.microsoft.com/office/drawing/2014/main" id="{74108F0D-BC76-44BF-9926-B251C0A5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67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rPr sz="1200" b="1">
                <a:solidFill>
                  <a:srgbClr val="10233F"/>
                </a:solidFill>
              </a:rPr>
              <a:t>Auditable proof pack</a:t>
            </a:r>
          </a:p>
        </p:txBody>
      </p:sp>
      <p:sp>
        <p:nvSpPr>
          <p:cNvPr id="49" name="control-chain">
            <a:extLst xmlns:a="http://schemas.openxmlformats.org/drawingml/2006/main">
              <a:ext uri="{FF2B5EF4-FFF2-40B4-BE49-F238E27FC236}">
                <a16:creationId xmlns:a16="http://schemas.microsoft.com/office/drawing/2014/main" id="{0A916E5B-D41F-400A-8F49-BDF2941C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B7DCF7"/>
            </a:solidFill>
            <a:prstDash val="solid"/>
          </a:ln>
        </p:spPr>
      </p:sp>
      <p:sp>
        <p:nvSpPr>
          <p:cNvPr id="50" name="control-chain-title">
            <a:extLst xmlns:a="http://schemas.openxmlformats.org/drawingml/2006/main">
              <a:ext uri="{FF2B5EF4-FFF2-40B4-BE49-F238E27FC236}">
                <a16:creationId xmlns:a16="http://schemas.microsoft.com/office/drawing/2014/main" id="{737C84A8-E253-44FA-A0E2-CE5C25E3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</a:defRPr>
            </a:pPr>
            <a:r>
              <a:rPr sz="975" b="1">
                <a:solidFill>
                  <a:srgbClr val="1677B8"/>
                </a:solidFill>
              </a:rPr>
              <a:t>CONTROL CHAIN</a:t>
            </a:r>
          </a:p>
        </p:txBody>
      </p:sp>
      <p:sp>
        <p:nvSpPr>
          <p:cNvPr id="51" name="control-chain-text">
            <a:extLst xmlns:a="http://schemas.openxmlformats.org/drawingml/2006/main">
              <a:ext uri="{FF2B5EF4-FFF2-40B4-BE49-F238E27FC236}">
                <a16:creationId xmlns:a16="http://schemas.microsoft.com/office/drawing/2014/main" id="{F531C909-788C-4D2F-A522-E8921BF1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7217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C66"/>
                </a:solidFill>
              </a:defRPr>
            </a:pPr>
            <a:r>
              <a:rPr sz="1350" b="1">
                <a:solidFill>
                  <a:srgbClr val="173C66"/>
                </a:solidFill>
              </a:rPr>
              <a:t>Intent → authorised work → enforced boundaries → auditable facts → trusted next task.</a:t>
            </a:r>
          </a:p>
        </p:txBody>
      </p:sp>
    </p:spTree>
    <p:extLst>
      <p:ext uri="{BB962C8B-B14F-4D97-AF65-F5344CB8AC3E}">
        <p14:creationId xmlns:p14="http://schemas.microsoft.com/office/powerpoint/2010/main" val="1453789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2026-08-26T07:45:02.0190000Z</dcterms:created>
  <dcterms:modified xsi:type="dcterms:W3CDTF">2026-08-26T07:45:02.0190000Z</dcterms:modified>
</coreProperties>
</file>