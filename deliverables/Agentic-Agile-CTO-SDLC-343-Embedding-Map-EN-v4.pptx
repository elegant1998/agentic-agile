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Agentic Agile book, Chapter 5: 3-4-3, four dynamic governance artifacts, and SCOPE-V.</a:t>
            </a:r>
          </a:p>
          <a:p>
            <a:r>
              <a:t>- Agentic Agile book, Chapter 25: IWE, Document Map and Code Map.</a:t>
            </a:r>
          </a:p>
          <a:p>
            <a:r>
              <a:t>- Agentic Agile book, Chapter 26: Basic Memory and evidence-gated learning promotion.</a:t>
            </a:r>
          </a:p>
          <a:p>
            <a:r>
              <a:t>- Visual asset: original line-icon strip generated for this presentation; it represents generic roles and governance artifacts, not real individuals or products.</a:t>
            </a:r>
          </a:p>
          <a:p>
            <a:endParaRPr/>
          </a:p>
          <a:p>
            <a:r>
              <a:t>[Presenter Notes]</a:t>
            </a:r>
          </a:p>
          <a:p>
            <a:r>
              <a:t>- Read top-to-bottom: the value stream is the operating surface, cards show where the three autonomy mechanisms occur, and rails show the people, organization, process and tools that make them governable.</a:t>
            </a:r>
          </a:p>
          <a:p>
            <a:r>
              <a:t>- The three avatar icons denote IO, OA and AS. The four artifact icons denote Intent Graph, Intent Contract, Constraint Matrix and Evidence.</a:t>
            </a:r>
          </a:p>
          <a:p>
            <a:r>
              <a:t>- Judge improvement with comparable work and the same risk boundary: shorter end-to-end lead time must be accompanied by evidence, quality and governance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14A3EF-B59A-8776-4FAD-8EB3AF25B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1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>
            <a:extLst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1101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altLang="zh-CN" sz="2550" b="1" dirty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Agentic</a:t>
            </a:r>
            <a:r>
              <a:rPr lang="zh-CN" altLang="en-US" sz="2550" b="1" dirty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2550" b="1" dirty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Agile</a:t>
            </a:r>
            <a:r>
              <a:rPr lang="zh-CN" altLang="en-US" sz="2550" b="1" dirty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550" b="1" dirty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in the SDLC: Autonomy Along the Value Stream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From customer request to release, three roles, four artifacts, three autonomy mechanisms and SCOPE-V operate together.</a:t>
            </a:r>
          </a:p>
        </p:txBody>
      </p:sp>
      <p:sp>
        <p:nvSpPr>
          <p:cNvPr id="3" name="thesis">
            <a:extLst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1010900" cy="323850"/>
          </a:xfrm>
          <a:prstGeom prst="roundRect">
            <a:avLst>
              <a:gd name="adj" fmla="val 1764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hesis-text">
            <a:extLst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10620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Value stream: Customer request → Clarification → Definition → Architecture → Code → SIT → Integration test → Release</a:t>
            </a:r>
          </a:p>
        </p:txBody>
      </p:sp>
      <p:sp>
        <p:nvSpPr>
          <p:cNvPr id="5" name="flow-arrow-1">
            <a:extLst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low-arrow-2">
            <a:extLst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noGrp="1"/>
          </p:cNvSpPr>
          <p:nvPr/>
        </p:nvSpPr>
        <p:spPr>
          <a:xfrm>
            <a:off x="586740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low-arrow-3">
            <a:extLst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phase-选对价值流">
            <a:extLst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FFF4E8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hase-time-选对价值流">
            <a:extLst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noGrp="1"/>
          </p:cNvSpPr>
          <p:nvPr/>
        </p:nvSpPr>
        <p:spPr>
          <a:xfrm>
            <a:off x="762000" y="1714501"/>
            <a:ext cx="108088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717" lnSpcReduction="10000"/>
          </a:bodyPr>
          <a:lstStyle/>
          <a:p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 b="1" dirty="0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Intent Injection</a:t>
            </a:r>
          </a:p>
        </p:txBody>
      </p:sp>
      <p:sp>
        <p:nvSpPr>
          <p:cNvPr id="10" name="phase-title-选对价值流">
            <a:extLst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Request → Clarify</a:t>
            </a:r>
          </a:p>
        </p:txBody>
      </p:sp>
      <p:sp>
        <p:nvSpPr>
          <p:cNvPr id="11" name="phase-body-选对价值流">
            <a:extLst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 + Owner: goal / guardrails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SCOPE-V: Specify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Intent Graph 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 IWE</a:t>
            </a:r>
          </a:p>
        </p:txBody>
      </p:sp>
      <p:sp>
        <p:nvSpPr>
          <p:cNvPr id="12" name="phase-跑通受控闭环">
            <a:extLst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noGrp="1"/>
          </p:cNvSpPr>
          <p:nvPr/>
        </p:nvSpPr>
        <p:spPr>
          <a:xfrm>
            <a:off x="32385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phase-time-跑通受控闭环">
            <a:extLst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noGrp="1"/>
          </p:cNvSpPr>
          <p:nvPr/>
        </p:nvSpPr>
        <p:spPr>
          <a:xfrm>
            <a:off x="3409949" y="1685925"/>
            <a:ext cx="1556341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717"/>
          </a:bodyPr>
          <a:lstStyle/>
          <a:p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 b="1" dirty="0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Intent Injection</a:t>
            </a:r>
          </a:p>
        </p:txBody>
      </p:sp>
      <p:sp>
        <p:nvSpPr>
          <p:cNvPr id="14" name="phase-title-跑通受控闭环">
            <a:extLst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noGrp="1"/>
          </p:cNvSpPr>
          <p:nvPr/>
        </p:nvSpPr>
        <p:spPr>
          <a:xfrm>
            <a:off x="34099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Define → Architect</a:t>
            </a:r>
          </a:p>
        </p:txBody>
      </p:sp>
      <p:sp>
        <p:nvSpPr>
          <p:cNvPr id="15" name="phase-body-跑通受控闭环">
            <a:extLst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noGrp="1"/>
          </p:cNvSpPr>
          <p:nvPr/>
        </p:nvSpPr>
        <p:spPr>
          <a:xfrm>
            <a:off x="3409950" y="22669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12" lnSpcReduction="10000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IO: Contract / AC; OA: constraints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SCOPE-V: Constrain / Orchestrate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Contract + Constraint 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 Work Graph</a:t>
            </a:r>
          </a:p>
        </p:txBody>
      </p:sp>
      <p:sp>
        <p:nvSpPr>
          <p:cNvPr id="16" name="phase-让上下文与经验复利">
            <a:extLst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noGrp="1"/>
          </p:cNvSpPr>
          <p:nvPr/>
        </p:nvSpPr>
        <p:spPr>
          <a:xfrm>
            <a:off x="58864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BFD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phase-time-让上下文与经验复利">
            <a:extLst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noGrp="1"/>
          </p:cNvSpPr>
          <p:nvPr/>
        </p:nvSpPr>
        <p:spPr>
          <a:xfrm>
            <a:off x="6057899" y="1685925"/>
            <a:ext cx="1101183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30"/>
          </a:bodyPr>
          <a:lstStyle/>
          <a:p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 b="1" dirty="0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Self-</a:t>
            </a:r>
            <a:r>
              <a:rPr lang="en-US" sz="1100" b="1" dirty="0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refinement</a:t>
            </a:r>
            <a:endParaRPr sz="1100" b="1" dirty="0">
              <a:solidFill>
                <a:srgbClr val="11B9D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phase-title-让上下文与经验复利">
            <a:extLst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noGrp="1"/>
          </p:cNvSpPr>
          <p:nvPr/>
        </p:nvSpPr>
        <p:spPr>
          <a:xfrm>
            <a:off x="60579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Code → SIT</a:t>
            </a:r>
          </a:p>
        </p:txBody>
      </p:sp>
      <p:sp>
        <p:nvSpPr>
          <p:cNvPr id="19" name="phase-body-让上下文与经验复利">
            <a:extLst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noGrp="1"/>
          </p:cNvSpPr>
          <p:nvPr/>
        </p:nvSpPr>
        <p:spPr>
          <a:xfrm>
            <a:off x="60579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AS: build / SIT; OA: Harness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SCOPE-V: Prove ↔ Evolve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Context</a:t>
            </a:r>
            <a:r>
              <a:rPr lang="zh-CN" altLang="en-US"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</a:t>
            </a:r>
            <a:r>
              <a:rPr lang="zh-CN" altLang="en-US"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Code Map + </a:t>
            </a: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phase-扩大可复制能力">
            <a:extLst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CF8F3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phase-time-扩大可复制能力">
            <a:extLst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noGrp="1"/>
          </p:cNvSpPr>
          <p:nvPr/>
        </p:nvSpPr>
        <p:spPr>
          <a:xfrm>
            <a:off x="87058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dirty="0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HITL Gate</a:t>
            </a:r>
          </a:p>
        </p:txBody>
      </p:sp>
      <p:sp>
        <p:nvSpPr>
          <p:cNvPr id="22" name="phase-title-扩大可复制能力">
            <a:extLst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noGrp="1"/>
          </p:cNvSpPr>
          <p:nvPr/>
        </p:nvSpPr>
        <p:spPr>
          <a:xfrm>
            <a:off x="87058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Integrate → Ship</a:t>
            </a:r>
          </a:p>
        </p:txBody>
      </p:sp>
      <p:sp>
        <p:nvSpPr>
          <p:cNvPr id="23" name="phase-body-扩大可复制能力">
            <a:extLst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noGrp="1"/>
          </p:cNvSpPr>
          <p:nvPr/>
        </p:nvSpPr>
        <p:spPr>
          <a:xfrm>
            <a:off x="87058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974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AS: integrate / regress; IO/OA: Verify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SCOPE-V: Verify → Telemetry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Memory</a:t>
            </a:r>
          </a:p>
        </p:txBody>
      </p:sp>
      <p:sp>
        <p:nvSpPr>
          <p:cNvPr id="24" name="four-dim-title">
            <a:extLst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in Four Dimensions: roles, artifacts and autonomy run on one value stream</a:t>
            </a:r>
          </a:p>
        </p:txBody>
      </p:sp>
      <p:sp>
        <p:nvSpPr>
          <p:cNvPr id="25" name="rail-人员">
            <a:extLst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ail-chip-人员">
            <a:extLst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B96800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ail-label-人员">
            <a:extLst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28" name="rail-body-人员">
            <a:extLst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noGrp="1"/>
          </p:cNvSpPr>
          <p:nvPr/>
        </p:nvSpPr>
        <p:spPr>
          <a:xfrm>
            <a:off x="1828800" y="33432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altLang="en-US"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    </a:t>
            </a:r>
            <a:r>
              <a:rPr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 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owns intent / release; </a:t>
            </a:r>
            <a:r>
              <a:rPr lang="zh-CN" altLang="en-US"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     </a:t>
            </a:r>
            <a:r>
              <a:rPr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 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controls / orchestrates;</a:t>
            </a:r>
            <a:r>
              <a:rPr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</a:t>
            </a:r>
            <a:r>
              <a:rPr lang="zh-CN" altLang="en-US"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    </a:t>
            </a:r>
            <a:r>
              <a:rPr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 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executes code, tests and integration within boundary.</a:t>
            </a:r>
          </a:p>
        </p:txBody>
      </p:sp>
      <p:sp>
        <p:nvSpPr>
          <p:cNvPr id="29" name="rail-组织">
            <a:extLst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ail-chip-组织">
            <a:extLst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ail-label-组织">
            <a:extLst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noGrp="1"/>
          </p:cNvSpPr>
          <p:nvPr/>
        </p:nvSpPr>
        <p:spPr>
          <a:xfrm>
            <a:off x="704850" y="37623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90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Organization</a:t>
            </a:r>
          </a:p>
        </p:txBody>
      </p:sp>
      <p:sp>
        <p:nvSpPr>
          <p:cNvPr id="32" name="rail-body-组织">
            <a:extLst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noGrp="1"/>
          </p:cNvSpPr>
          <p:nvPr/>
        </p:nvSpPr>
        <p:spPr>
          <a:xfrm>
            <a:off x="1828800" y="3752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Business owner, product, architecture, engineering, test and operations collaborate on one Contract; exceptions use explicit gates.</a:t>
            </a:r>
          </a:p>
        </p:txBody>
      </p:sp>
      <p:sp>
        <p:nvSpPr>
          <p:cNvPr id="33" name="rail-流程">
            <a:extLst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ail-chip-流程">
            <a:extLst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1B9D6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ail-label-流程">
            <a:extLst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Process</a:t>
            </a:r>
          </a:p>
        </p:txBody>
      </p:sp>
      <p:sp>
        <p:nvSpPr>
          <p:cNvPr id="36" name="rail-body-流程">
            <a:extLst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noGrp="1"/>
          </p:cNvSpPr>
          <p:nvPr/>
        </p:nvSpPr>
        <p:spPr>
          <a:xfrm>
            <a:off x="1828800" y="416242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SCOPE-V: Specify → Constrain / Orchestrate → Prove ↔ Evolve → Verify → Telemetry; 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every step has entry, stop and evidence conditions.</a:t>
            </a:r>
          </a:p>
        </p:txBody>
      </p:sp>
      <p:sp>
        <p:nvSpPr>
          <p:cNvPr id="37" name="rail-工具">
            <a:extLst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ail-chip-工具">
            <a:extLst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835C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ail-label-工具">
            <a:extLst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noGrp="1"/>
          </p:cNvSpPr>
          <p:nvPr/>
        </p:nvSpPr>
        <p:spPr>
          <a:xfrm>
            <a:off x="704850" y="45815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Artifacts</a:t>
            </a:r>
          </a:p>
        </p:txBody>
      </p:sp>
      <p:sp>
        <p:nvSpPr>
          <p:cNvPr id="40" name="rail-body-工具">
            <a:extLst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noGrp="1"/>
          </p:cNvSpPr>
          <p:nvPr/>
        </p:nvSpPr>
        <p:spPr>
          <a:xfrm>
            <a:off x="1828800" y="45720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4 artifacts:</a:t>
            </a:r>
            <a:r>
              <a:rPr sz="1200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 Intent Graph → Contract → Constraint Matrix → Evidence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;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IWE×Code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Map, Harness, Memory and Telemetry.</a:t>
            </a:r>
          </a:p>
        </p:txBody>
      </p:sp>
      <p:sp>
        <p:nvSpPr>
          <p:cNvPr id="41" name="outcome-panel">
            <a:extLst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51816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outcome-head">
            <a:extLst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Action Metrics</a:t>
            </a:r>
          </a:p>
        </p:txBody>
      </p:sp>
      <p:sp>
        <p:nvSpPr>
          <p:cNvPr id="43" name="outcome-body">
            <a:extLst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noGrp="1"/>
          </p:cNvSpPr>
          <p:nvPr/>
        </p:nvSpPr>
        <p:spPr>
          <a:xfrm>
            <a:off x="800100" y="5514975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 lnSpcReduction="10000"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Demand: C&amp;A% / rework | Build: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Code→SIT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LT / first-pass</a:t>
            </a:r>
          </a:p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Delivery: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Integration→Release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LT / escape defects | Run: rollback, HITL, cost</a:t>
            </a:r>
          </a:p>
        </p:txBody>
      </p:sp>
      <p:sp>
        <p:nvSpPr>
          <p:cNvPr id="44" name="proof-panel">
            <a:extLst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noGrp="1"/>
          </p:cNvSpPr>
          <p:nvPr/>
        </p:nvSpPr>
        <p:spPr>
          <a:xfrm>
            <a:off x="6019800" y="5067300"/>
            <a:ext cx="5581650" cy="1219200"/>
          </a:xfrm>
          <a:prstGeom prst="roundRect">
            <a:avLst>
              <a:gd name="adj" fmla="val 7813"/>
            </a:avLst>
          </a:prstGeom>
          <a:solidFill>
            <a:srgbClr val="F7FB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proof-head">
            <a:extLst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2476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Proof: End-to-End Delivery</a:t>
            </a:r>
          </a:p>
        </p:txBody>
      </p:sp>
      <p:sp>
        <p:nvSpPr>
          <p:cNvPr id="46" name="proof-body">
            <a:extLst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noGrp="1"/>
          </p:cNvSpPr>
          <p:nvPr/>
        </p:nvSpPr>
        <p:spPr>
          <a:xfrm>
            <a:off x="6229350" y="5514975"/>
            <a:ext cx="5124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28"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Primary: end-to-end Lead Time | Supporting: C&amp;A%, first-pass, rework, escape defects</a:t>
            </a:r>
          </a:p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Comparable work, same risk: baseline vs. trend + Contract / Evidence / Telemetry</a:t>
            </a:r>
          </a:p>
        </p:txBody>
      </p:sp>
      <p:sp>
        <p:nvSpPr>
          <p:cNvPr id="47" name="footer">
            <a:extLst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noGrp="1"/>
          </p:cNvSpPr>
          <p:nvPr/>
        </p:nvSpPr>
        <p:spPr>
          <a:xfrm>
            <a:off x="590550" y="6486525"/>
            <a:ext cx="9525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 | Faster, more accurate, more controllable SDLC—results you can prove</a:t>
            </a:r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42880" y="3290888"/>
            <a:ext cx="161511" cy="247650"/>
          </a:xfrm>
          <a:prstGeom prst="rect">
            <a:avLst/>
          </a:prstGeom>
        </p:spPr>
      </p:pic>
      <p:pic>
        <p:nvPicPr>
          <p:cNvPr id="104" name="Picture 10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762375" y="3280317"/>
            <a:ext cx="161511" cy="247650"/>
          </a:xfrm>
          <a:prstGeom prst="rect">
            <a:avLst/>
          </a:prstGeom>
        </p:spPr>
      </p:pic>
      <p:pic>
        <p:nvPicPr>
          <p:cNvPr id="105" name="Picture 1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92258" y="3290888"/>
            <a:ext cx="172278" cy="247650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694910" y="1638300"/>
            <a:ext cx="172779" cy="247650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342860" y="1638300"/>
            <a:ext cx="172779" cy="247650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90810" y="1638300"/>
            <a:ext cx="172779" cy="247650"/>
          </a:xfrm>
          <a:prstGeom prst="rect">
            <a:avLst/>
          </a:prstGeom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633001" y="1638300"/>
            <a:ext cx="184298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187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522</Words>
  <Application>Microsoft Macintosh PowerPoint</Application>
  <DocSecurity>0</DocSecurity>
  <PresentationFormat>Widescreen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Helvetica Neue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 Lijie</cp:lastModifiedBy>
  <cp:revision>3</cp:revision>
  <dcterms:created xsi:type="dcterms:W3CDTF">2026-08-26T02:55:50Z</dcterms:created>
  <dcterms:modified xsi:type="dcterms:W3CDTF">2026-08-26T07:28:09Z</dcterms:modified>
</cp:coreProperties>
</file>