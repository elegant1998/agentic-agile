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e2e7e8954b44528" /><Relationship Type="http://schemas.openxmlformats.org/officeDocument/2006/relationships/extended-properties" Target="/docProps/app.xml" Id="R826e9dd097544e7e" /><Relationship Type="http://schemas.openxmlformats.org/officeDocument/2006/relationships/officeDocument" Target="/ppt/presentation.xml" Id="R935d9cdb716545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baef62a37443b1"/>
  </p:sldMasterIdLst>
  <p:notesMasterIdLst>
    <p:notesMasterId xmlns:r="http://schemas.openxmlformats.org/officeDocument/2006/relationships" r:id="Rdad302e597234b65"/>
  </p:notesMasterIdLst>
  <p:sldIdLst>
    <p:sldId xmlns:r="http://schemas.openxmlformats.org/officeDocument/2006/relationships" id="256" r:id="Re8e750f3e3b44c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7d6f469a25c44b2" /><Relationship Type="http://schemas.openxmlformats.org/officeDocument/2006/relationships/slideMaster" Target="/ppt/slideMasters/slideMaster1.xml" Id="Rd4baef62a37443b1" /><Relationship Type="http://schemas.openxmlformats.org/officeDocument/2006/relationships/notesMaster" Target="/ppt/notesMasters/notesMaster1.xml" Id="Rdad302e597234b65" /><Relationship Type="http://schemas.openxmlformats.org/officeDocument/2006/relationships/presProps" Target="/ppt/presProps.xml" Id="R9224b254777f4d6b" /><Relationship Type="http://schemas.openxmlformats.org/officeDocument/2006/relationships/viewProps" Target="/ppt/viewProps.xml" Id="Rbc27afca0ba049b4" /><Relationship Type="http://schemas.openxmlformats.org/officeDocument/2006/relationships/tableStyles" Target="/ppt/tableStyles.xml" Id="Rd3afe80f2bc04ae2" /><Relationship Type="http://schemas.openxmlformats.org/officeDocument/2006/relationships/slide" Target="/ppt/slides/slide1.xml" Id="Re8e750f3e3b44c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cbf898caf41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217e360e89a4c78" /><Relationship Type="http://schemas.openxmlformats.org/officeDocument/2006/relationships/notesMaster" Target="/ppt/notesMasters/notesMaster1.xml" Id="Rab3e871b4bf24d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Internal: Agentic Agile book, Chapters 2, 5, 9–17, 16, 25 and 26.</a:t>
            </a:r>
          </a:p>
          <a:p xmlns:a="http://schemas.openxmlformats.org/drawingml/2006/main">
            <a:r>
              <a:t>- Lead Time is the agreed end-to-end interval from customer request entering the value-stream boundary to external release.</a:t>
            </a:r>
          </a:p>
          <a:p xmlns:a="http://schemas.openxmlformats.org/drawingml/2006/main">
            <a:r>
              <a:t>- C&amp;A% retains the enterprise's existing measurement definition and must be read with quality, risk and cost counter-metrics.</a:t>
            </a:r>
            <a:endParaRPr/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Presenter emphasis:</a:t>
            </a:r>
          </a:p>
          <a:p xmlns:a="http://schemas.openxmlformats.org/drawingml/2006/main">
            <a:r>
              <a:t>Read the four phase groups from left to right as eight SDLC stages. At every stage, IO defines or accepts value and risk; OA designs the control conditions; AS executes only within the active envelope. IWE Document Map and Code Map make source facts retrievable, while Basic/Agent Memory preserves task state and candidate learning. Only evidence-backed learning is promoted into reusable rules, tests or Skills. The management question is not whether coding accelerates, but whether the request-to-release Lead Time improves without degrading C&amp;A%, quality, risk, or total cost.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952f6635d44e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d67168331a4b89" /><Relationship Type="http://schemas.openxmlformats.org/officeDocument/2006/relationships/slideLayout" Target="/ppt/slideLayouts/slideLayout1.xml" Id="R07f2b223d3f3419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f2b223d3f3419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4a0ebb1913449a" /><Relationship Type="http://schemas.openxmlformats.org/officeDocument/2006/relationships/notesSlide" Target="/ppt/notesSlides/notesSlide1.xml" Id="R4c018daddc3546b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8" name="title">
            <a:extLst xmlns:a="http://schemas.openxmlformats.org/drawingml/2006/main">
              <a:ext uri="{FF2B5EF4-FFF2-40B4-BE49-F238E27FC236}">
                <a16:creationId xmlns:a16="http://schemas.microsoft.com/office/drawing/2014/main" id="{A77F0148-2AFC-4761-B993-1A068A16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6700"/>
            <a:ext cx="11010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把 3-4-3 嵌入 SDLC：用一条价值流完成 AI 转型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7CAC6857-3AB9-4281-8C96-E979CFA2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90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客户需求提出到对外发布，每一阶段都有责任、边界、Agent 行动、证据与可量化的改善。</a:t>
            </a:r>
          </a:p>
        </p:txBody>
      </p:sp>
      <p:sp>
        <p:nvSpPr>
          <p:cNvPr id="3" name="thesis">
            <a:extLst xmlns:a="http://schemas.openxmlformats.org/drawingml/2006/main">
              <a:ext uri="{FF2B5EF4-FFF2-40B4-BE49-F238E27FC236}">
                <a16:creationId xmlns:a16="http://schemas.microsoft.com/office/drawing/2014/main" id="{08177534-83B5-4FAC-A3F7-69AEE1CB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66800"/>
            <a:ext cx="110109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10243E"/>
          </a:solidFill>
          <a:ln xmlns:a="http://schemas.openxmlformats.org/drawingml/2006/main" w="9525">
            <a:solidFill>
              <a:srgbClr val="10243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hesis-text">
            <a:extLst xmlns:a="http://schemas.openxmlformats.org/drawingml/2006/main">
              <a:ext uri="{FF2B5EF4-FFF2-40B4-BE49-F238E27FC236}">
                <a16:creationId xmlns:a16="http://schemas.microsoft.com/office/drawing/2014/main" id="{B3A87EA2-E71A-404E-846C-5FFD78A58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43000"/>
            <a:ext cx="10620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价值流：客户需求 → 需求澄清 → 需求定义 → 架构设计 → 编码 → SIT → 集成测试 → 对外发布</a:t>
            </a:r>
          </a:p>
        </p:txBody>
      </p:sp>
      <p:sp>
        <p:nvSpPr>
          <p:cNvPr id="5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36BD5434-D569-40D6-9EFA-7F41FCF1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7C159A60-4C01-4369-ACA9-42B33E4E6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493353BB-5DA0-4A16-9748-21260CBE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9075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phase-选对价值流">
            <a:extLst xmlns:a="http://schemas.openxmlformats.org/drawingml/2006/main">
              <a:ext uri="{FF2B5EF4-FFF2-40B4-BE49-F238E27FC236}">
                <a16:creationId xmlns:a16="http://schemas.microsoft.com/office/drawing/2014/main" id="{860848E6-B8D9-4E5A-82D3-BC0409AA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hase-time-选对价值流">
            <a:extLst xmlns:a="http://schemas.openxmlformats.org/drawingml/2006/main">
              <a:ext uri="{FF2B5EF4-FFF2-40B4-BE49-F238E27FC236}">
                <a16:creationId xmlns:a16="http://schemas.microsoft.com/office/drawing/2014/main" id="{9A4261FE-4546-4A12-A1BA-1FFBB45A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B96800"/>
                </a:solidFill>
                <a:latin typeface="Helvetica Neue"/>
                <a:ea typeface="Helvetica Neue"/>
                <a:cs typeface="Helvetica Neue"/>
              </a:rPr>
              <a:t>需求形成</a:t>
            </a:r>
          </a:p>
        </p:txBody>
      </p:sp>
      <p:sp>
        <p:nvSpPr>
          <p:cNvPr id="10" name="phase-title-选对价值流">
            <a:extLst xmlns:a="http://schemas.openxmlformats.org/drawingml/2006/main">
              <a:ext uri="{FF2B5EF4-FFF2-40B4-BE49-F238E27FC236}">
                <a16:creationId xmlns:a16="http://schemas.microsoft.com/office/drawing/2014/main" id="{A6137810-380E-4030-9AF0-842DBD1EA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客户需求 → 澄清</a:t>
            </a:r>
          </a:p>
        </p:txBody>
      </p:sp>
      <p:sp>
        <p:nvSpPr>
          <p:cNvPr id="11" name="phase-body-选对价值流">
            <a:extLst xmlns:a="http://schemas.openxmlformats.org/drawingml/2006/main">
              <a:ext uri="{FF2B5EF4-FFF2-40B4-BE49-F238E27FC236}">
                <a16:creationId xmlns:a16="http://schemas.microsoft.com/office/drawing/2014/main" id="{53D43623-C41C-4E0A-B09D-0B627092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IO：价值、护栏、假设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Agent：资料、访谈、反例</a:t>
            </a:r>
          </a:p>
        </p:txBody>
      </p:sp>
      <p:sp>
        <p:nvSpPr>
          <p:cNvPr id="12" name="phas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0C635379-B86D-44FA-ADAE-361A3546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phase-tim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F91B9D37-07C3-4658-BAD1-F86084BF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77FF"/>
                </a:solidFill>
                <a:latin typeface="Helvetica Neue"/>
                <a:ea typeface="Helvetica Neue"/>
                <a:cs typeface="Helvetica Neue"/>
              </a:rPr>
              <a:t>需求定型</a:t>
            </a:r>
          </a:p>
        </p:txBody>
      </p:sp>
      <p:sp>
        <p:nvSpPr>
          <p:cNvPr id="14" name="phase-title-跑通受控闭环">
            <a:extLst xmlns:a="http://schemas.openxmlformats.org/drawingml/2006/main">
              <a:ext uri="{FF2B5EF4-FFF2-40B4-BE49-F238E27FC236}">
                <a16:creationId xmlns:a16="http://schemas.microsoft.com/office/drawing/2014/main" id="{13676E43-9C6C-496F-9512-8466E0BD1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定义 → 架构</a:t>
            </a:r>
          </a:p>
        </p:txBody>
      </p:sp>
      <p:sp>
        <p:nvSpPr>
          <p:cNvPr id="15" name="phase-body-跑通受控闭环">
            <a:extLst xmlns:a="http://schemas.openxmlformats.org/drawingml/2006/main">
              <a:ext uri="{FF2B5EF4-FFF2-40B4-BE49-F238E27FC236}">
                <a16:creationId xmlns:a16="http://schemas.microsoft.com/office/drawing/2014/main" id="{35F4C2B5-EF10-4ABD-9072-42ABA055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IO：签署 Contract / AC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OA：约束、上下文、Work Graph</a:t>
            </a:r>
          </a:p>
        </p:txBody>
      </p:sp>
      <p:sp>
        <p:nvSpPr>
          <p:cNvPr id="16" name="phas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353B2AFE-7049-4E02-A44F-A1B16966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AFBFD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phase-tim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4795756C-AD9C-4ED4-99D9-A1465502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1B9D6"/>
                </a:solidFill>
                <a:latin typeface="Helvetica Neue"/>
                <a:ea typeface="Helvetica Neue"/>
                <a:cs typeface="Helvetica Neue"/>
              </a:rPr>
              <a:t>工程闭环</a:t>
            </a:r>
          </a:p>
        </p:txBody>
      </p:sp>
      <p:sp>
        <p:nvSpPr>
          <p:cNvPr id="18" name="phase-title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069FBF3F-54F7-4DA5-8EF5-510335A61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编码 → SIT</a:t>
            </a:r>
          </a:p>
        </p:txBody>
      </p:sp>
      <p:sp>
        <p:nvSpPr>
          <p:cNvPr id="19" name="phase-body-让上下文与经验复利">
            <a:extLst xmlns:a="http://schemas.openxmlformats.org/drawingml/2006/main">
              <a:ext uri="{FF2B5EF4-FFF2-40B4-BE49-F238E27FC236}">
                <a16:creationId xmlns:a16="http://schemas.microsoft.com/office/drawing/2014/main" id="{D2934DE8-C0FA-4554-8CC7-8DE8AF77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AS：受控实现与测试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OA：Harness、Prove / Evolve</a:t>
            </a:r>
          </a:p>
        </p:txBody>
      </p:sp>
      <p:sp>
        <p:nvSpPr>
          <p:cNvPr id="20" name="phas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96900311-217B-46C6-8D3F-3F77CABF7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562100"/>
            <a:ext cx="24574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CF8F3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phase-tim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B76CBDCE-671D-4550-BF54-928D784F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85925"/>
            <a:ext cx="704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6835C"/>
                </a:solidFill>
                <a:latin typeface="Helvetica Neue"/>
                <a:ea typeface="Helvetica Neue"/>
                <a:cs typeface="Helvetica Neue"/>
              </a:rPr>
              <a:t>交付裁决</a:t>
            </a:r>
          </a:p>
        </p:txBody>
      </p:sp>
      <p:sp>
        <p:nvSpPr>
          <p:cNvPr id="22" name="phase-title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25133BC5-9E71-429A-AD51-8976D50F9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2095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集成 → 发布</a:t>
            </a:r>
          </a:p>
        </p:txBody>
      </p:sp>
      <p:sp>
        <p:nvSpPr>
          <p:cNvPr id="23" name="phase-body-扩大可复制能力">
            <a:extLst xmlns:a="http://schemas.openxmlformats.org/drawingml/2006/main">
              <a:ext uri="{FF2B5EF4-FFF2-40B4-BE49-F238E27FC236}">
                <a16:creationId xmlns:a16="http://schemas.microsoft.com/office/drawing/2014/main" id="{FD9C8F46-E07D-4F27-92A4-F07FFE1F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669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AS：集成、回归与补证</a:t>
            </a:r>
          </a:p>
          <a:p xmlns:a="http://schemas.openxmlformats.org/drawingml/2006/main">
            <a:pPr algn="l">
              <a:buNone/>
              <a:def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88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/ OA：Verify、发布、回退</a:t>
            </a:r>
          </a:p>
        </p:txBody>
      </p:sp>
      <p:sp>
        <p:nvSpPr>
          <p:cNvPr id="24" name="four-dim-title">
            <a:extLst xmlns:a="http://schemas.openxmlformats.org/drawingml/2006/main">
              <a:ext uri="{FF2B5EF4-FFF2-40B4-BE49-F238E27FC236}">
                <a16:creationId xmlns:a16="http://schemas.microsoft.com/office/drawing/2014/main" id="{D40CD4B9-D254-42D7-9798-DC2AD4AE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718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3-4-3 不是阶段外的附加治理，而是嵌入每一个 SDLC 阶段的运行方式</a:t>
            </a:r>
          </a:p>
        </p:txBody>
      </p:sp>
      <p:sp>
        <p:nvSpPr>
          <p:cNvPr id="25" name="rail-人员">
            <a:extLst xmlns:a="http://schemas.openxmlformats.org/drawingml/2006/main">
              <a:ext uri="{FF2B5EF4-FFF2-40B4-BE49-F238E27FC236}">
                <a16:creationId xmlns:a16="http://schemas.microsoft.com/office/drawing/2014/main" id="{04054885-7DE1-4E4E-9783-6956EDCCD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rail-chip-人员">
            <a:extLst xmlns:a="http://schemas.openxmlformats.org/drawingml/2006/main">
              <a:ext uri="{FF2B5EF4-FFF2-40B4-BE49-F238E27FC236}">
                <a16:creationId xmlns:a16="http://schemas.microsoft.com/office/drawing/2014/main" id="{5035838D-CA26-4075-9ADC-00CD848A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7660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B96800"/>
          </a:solidFill>
          <a:ln xmlns:a="http://schemas.openxmlformats.org/drawingml/2006/main" w="9525">
            <a:solidFill>
              <a:srgbClr val="B968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rail-label-人员">
            <a:extLst xmlns:a="http://schemas.openxmlformats.org/drawingml/2006/main">
              <a:ext uri="{FF2B5EF4-FFF2-40B4-BE49-F238E27FC236}">
                <a16:creationId xmlns:a16="http://schemas.microsoft.com/office/drawing/2014/main" id="{C2D741C6-4ED4-448F-8186-326D11E6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352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人员</a:t>
            </a:r>
          </a:p>
        </p:txBody>
      </p:sp>
      <p:sp>
        <p:nvSpPr>
          <p:cNvPr id="28" name="rail-body-人员">
            <a:extLst xmlns:a="http://schemas.openxmlformats.org/drawingml/2006/main">
              <a:ext uri="{FF2B5EF4-FFF2-40B4-BE49-F238E27FC236}">
                <a16:creationId xmlns:a16="http://schemas.microsoft.com/office/drawing/2014/main" id="{BFDEE142-A79D-469E-86F2-AB5B4E6FE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34327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IO 主导需求、定义与发布裁决；OA 贯穿控制与编排；AS 承担编码、测试、集成的受约束执行。</a:t>
            </a:r>
          </a:p>
        </p:txBody>
      </p:sp>
      <p:sp>
        <p:nvSpPr>
          <p:cNvPr id="29" name="rail-组织">
            <a:extLst xmlns:a="http://schemas.openxmlformats.org/drawingml/2006/main">
              <a:ext uri="{FF2B5EF4-FFF2-40B4-BE49-F238E27FC236}">
                <a16:creationId xmlns:a16="http://schemas.microsoft.com/office/drawing/2014/main" id="{88916D52-20F6-4DCA-9047-418E4B79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rail-chip-组织">
            <a:extLst xmlns:a="http://schemas.openxmlformats.org/drawingml/2006/main">
              <a:ext uri="{FF2B5EF4-FFF2-40B4-BE49-F238E27FC236}">
                <a16:creationId xmlns:a16="http://schemas.microsoft.com/office/drawing/2014/main" id="{8E5453AA-B53B-4084-B346-25BE82C02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rail-label-组织">
            <a:extLst xmlns:a="http://schemas.openxmlformats.org/drawingml/2006/main">
              <a:ext uri="{FF2B5EF4-FFF2-40B4-BE49-F238E27FC236}">
                <a16:creationId xmlns:a16="http://schemas.microsoft.com/office/drawing/2014/main" id="{DF8DA90B-1202-484E-B0D6-87241B5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62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组织</a:t>
            </a:r>
          </a:p>
        </p:txBody>
      </p:sp>
      <p:sp>
        <p:nvSpPr>
          <p:cNvPr id="32" name="rail-body-组织">
            <a:extLst xmlns:a="http://schemas.openxmlformats.org/drawingml/2006/main">
              <a:ext uri="{FF2B5EF4-FFF2-40B4-BE49-F238E27FC236}">
                <a16:creationId xmlns:a16="http://schemas.microsoft.com/office/drawing/2014/main" id="{6A8C4915-43E9-43CA-AA40-EC4683F9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75285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业务 Owner、产品、架构、研发、测试与运维围绕同一 Contract 协作；例外在正确节点裁决。</a:t>
            </a:r>
          </a:p>
        </p:txBody>
      </p:sp>
      <p:sp>
        <p:nvSpPr>
          <p:cNvPr id="33" name="rail-流程">
            <a:extLst xmlns:a="http://schemas.openxmlformats.org/drawingml/2006/main">
              <a:ext uri="{FF2B5EF4-FFF2-40B4-BE49-F238E27FC236}">
                <a16:creationId xmlns:a16="http://schemas.microsoft.com/office/drawing/2014/main" id="{54BC8370-C66B-47A6-8F75-66E77B115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4" name="rail-chip-流程">
            <a:extLst xmlns:a="http://schemas.openxmlformats.org/drawingml/2006/main">
              <a:ext uri="{FF2B5EF4-FFF2-40B4-BE49-F238E27FC236}">
                <a16:creationId xmlns:a16="http://schemas.microsoft.com/office/drawing/2014/main" id="{F9FD4851-5095-4319-95DE-1BF94CA1D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1B9D6"/>
          </a:solidFill>
          <a:ln xmlns:a="http://schemas.openxmlformats.org/drawingml/2006/main" w="9525">
            <a:solidFill>
              <a:srgbClr val="11B9D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5" name="rail-label-流程">
            <a:extLst xmlns:a="http://schemas.openxmlformats.org/drawingml/2006/main">
              <a:ext uri="{FF2B5EF4-FFF2-40B4-BE49-F238E27FC236}">
                <a16:creationId xmlns:a16="http://schemas.microsoft.com/office/drawing/2014/main" id="{E2D8590A-82DD-4180-9F52-EB5E96DD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71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流程</a:t>
            </a:r>
          </a:p>
        </p:txBody>
      </p:sp>
      <p:sp>
        <p:nvSpPr>
          <p:cNvPr id="36" name="rail-body-流程">
            <a:extLst xmlns:a="http://schemas.openxmlformats.org/drawingml/2006/main">
              <a:ext uri="{FF2B5EF4-FFF2-40B4-BE49-F238E27FC236}">
                <a16:creationId xmlns:a16="http://schemas.microsoft.com/office/drawing/2014/main" id="{35190C33-C0DD-4575-8B05-8CB9BD70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162425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Specify / Constrain / Orchestrate → Prove / Evolve → Verify：每一步都有启动条件、停止条件与 Evidence。</a:t>
            </a:r>
          </a:p>
        </p:txBody>
      </p:sp>
      <p:sp>
        <p:nvSpPr>
          <p:cNvPr id="37" name="rail-工具">
            <a:extLst xmlns:a="http://schemas.openxmlformats.org/drawingml/2006/main">
              <a:ext uri="{FF2B5EF4-FFF2-40B4-BE49-F238E27FC236}">
                <a16:creationId xmlns:a16="http://schemas.microsoft.com/office/drawing/2014/main" id="{B5BC94AD-E29A-4791-9EF3-0D08E8A3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10109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8" name="rail-chip-工具">
            <a:extLst xmlns:a="http://schemas.openxmlformats.org/drawingml/2006/main">
              <a:ext uri="{FF2B5EF4-FFF2-40B4-BE49-F238E27FC236}">
                <a16:creationId xmlns:a16="http://schemas.microsoft.com/office/drawing/2014/main" id="{6DDCB258-B649-4C44-AE42-C43E65282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066800" cy="36195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6835C"/>
          </a:solidFill>
          <a:ln xmlns:a="http://schemas.openxmlformats.org/drawingml/2006/main" w="9525">
            <a:solidFill>
              <a:srgbClr val="16835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rail-label-工具">
            <a:extLst xmlns:a="http://schemas.openxmlformats.org/drawingml/2006/main">
              <a:ext uri="{FF2B5EF4-FFF2-40B4-BE49-F238E27FC236}">
                <a16:creationId xmlns:a16="http://schemas.microsoft.com/office/drawing/2014/main" id="{A65A4E05-8F44-4F50-8739-883D9B7F9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815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工具</a:t>
            </a:r>
          </a:p>
        </p:txBody>
      </p:sp>
      <p:sp>
        <p:nvSpPr>
          <p:cNvPr id="40" name="rail-body-工具">
            <a:extLst xmlns:a="http://schemas.openxmlformats.org/drawingml/2006/main">
              <a:ext uri="{FF2B5EF4-FFF2-40B4-BE49-F238E27FC236}">
                <a16:creationId xmlns:a16="http://schemas.microsoft.com/office/drawing/2014/main" id="{0E3956A2-EF2B-448E-8E80-848C54AB9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572000"/>
            <a:ext cx="952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Intent Graph / Contract / Constraint / Evidence + IWE×Code Map + Basic Memory：让事实随任务更新，不散落在聊天中。</a:t>
            </a:r>
          </a:p>
        </p:txBody>
      </p:sp>
      <p:sp>
        <p:nvSpPr>
          <p:cNvPr id="41" name="outcome-panel">
            <a:extLst xmlns:a="http://schemas.openxmlformats.org/drawingml/2006/main">
              <a:ext uri="{FF2B5EF4-FFF2-40B4-BE49-F238E27FC236}">
                <a16:creationId xmlns:a16="http://schemas.microsoft.com/office/drawing/2014/main" id="{7F38DC27-B160-426B-B91F-0DFA09BF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67300"/>
            <a:ext cx="51816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4F7FA"/>
          </a:solidFill>
          <a:ln xmlns:a="http://schemas.openxmlformats.org/drawingml/2006/main" w="9525">
            <a:solidFill>
              <a:srgbClr val="D8E0E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2" name="outcome-head">
            <a:extLst xmlns:a="http://schemas.openxmlformats.org/drawingml/2006/main">
              <a:ext uri="{FF2B5EF4-FFF2-40B4-BE49-F238E27FC236}">
                <a16:creationId xmlns:a16="http://schemas.microsoft.com/office/drawing/2014/main" id="{E59FE4F8-2A8E-4BFD-9B1D-29EEE85E2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1809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阶段动作与改善指标</a:t>
            </a:r>
          </a:p>
        </p:txBody>
      </p:sp>
      <p:sp>
        <p:nvSpPr>
          <p:cNvPr id="43" name="outcome-body">
            <a:extLst xmlns:a="http://schemas.openxmlformats.org/drawingml/2006/main">
              <a:ext uri="{FF2B5EF4-FFF2-40B4-BE49-F238E27FC236}">
                <a16:creationId xmlns:a16="http://schemas.microsoft.com/office/drawing/2014/main" id="{B39B1606-1547-4E2A-9240-10552CD80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4667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5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需求：C&amp;A% / 澄清返工 ｜ 工程：编码→SIT Lead Time / 首次通过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交付：集成→发布 Lead Time / 逃逸缺陷 ｜ 运行：回退、HITL、Token + 人工成本</a:t>
            </a:r>
          </a:p>
        </p:txBody>
      </p:sp>
      <p:sp>
        <p:nvSpPr>
          <p:cNvPr id="44" name="proof-panel">
            <a:extLst xmlns:a="http://schemas.openxmlformats.org/drawingml/2006/main">
              <a:ext uri="{FF2B5EF4-FFF2-40B4-BE49-F238E27FC236}">
                <a16:creationId xmlns:a16="http://schemas.microsoft.com/office/drawing/2014/main" id="{DBB8875E-9C02-4D8B-BF8A-B50D232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67300"/>
            <a:ext cx="558165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proof-head">
            <a:extLst xmlns:a="http://schemas.openxmlformats.org/drawingml/2006/main">
              <a:ext uri="{FF2B5EF4-FFF2-40B4-BE49-F238E27FC236}">
                <a16:creationId xmlns:a16="http://schemas.microsoft.com/office/drawing/2014/main" id="{63C9B8AA-9029-4525-8221-182DD24CB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19700"/>
            <a:ext cx="2476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2329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B1220"/>
                </a:solidFill>
                <a:latin typeface="Helvetica Neue"/>
                <a:ea typeface="Helvetica Neue"/>
                <a:cs typeface="Helvetica Neue"/>
              </a:rPr>
              <a:t>证明：不是局部效率，而是端到端有效交付</a:t>
            </a:r>
          </a:p>
        </p:txBody>
      </p:sp>
      <p:sp>
        <p:nvSpPr>
          <p:cNvPr id="46" name="proof-body">
            <a:extLst xmlns:a="http://schemas.openxmlformats.org/drawingml/2006/main">
              <a:ext uri="{FF2B5EF4-FFF2-40B4-BE49-F238E27FC236}">
                <a16:creationId xmlns:a16="http://schemas.microsoft.com/office/drawing/2014/main" id="{14C9C814-8CEE-4FC3-8388-0E8FBCE35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514975"/>
            <a:ext cx="51244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主指标：端到端 Lead Time ｜ 配套：C&amp;A%、首次通过、返工、逃逸缺陷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25466"/>
                </a:solidFill>
                <a:latin typeface="Helvetica Neue"/>
                <a:ea typeface="Helvetica Neue"/>
                <a:cs typeface="Helvetica Neue"/>
              </a:rPr>
              <a:t>同类任务、同一风险边界：基线 vs. 趋势 + Contract / Evidence / Telemetry</a:t>
            </a:r>
          </a:p>
        </p:txBody>
      </p:sp>
      <p:sp>
        <p:nvSpPr>
          <p:cNvPr id="47" name="footer">
            <a:extLst xmlns:a="http://schemas.openxmlformats.org/drawingml/2006/main">
              <a:ext uri="{FF2B5EF4-FFF2-40B4-BE49-F238E27FC236}">
                <a16:creationId xmlns:a16="http://schemas.microsoft.com/office/drawing/2014/main" id="{52EEF19E-745F-4146-B0E2-17E9B0FD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86525"/>
            <a:ext cx="952500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0">
                <a:solidFill>
                  <a:srgbClr val="6E7E92"/>
                </a:solidFill>
                <a:latin typeface="Helvetica Neue"/>
                <a:ea typeface="Helvetica Neue"/>
                <a:cs typeface="Helvetica Neue"/>
              </a:rPr>
              <a:t>Agentic Agile｜让每一个 SDLC 阶段更快、更准、更可控，并能证明结果</a:t>
            </a:r>
          </a:p>
        </p:txBody>
      </p:sp>
    </p:spTree>
    <p:extLst>
      <p:ext uri="{BB962C8B-B14F-4D97-AF65-F5344CB8AC3E}">
        <p14:creationId xmlns:p14="http://schemas.microsoft.com/office/powerpoint/2010/main" val="10841187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2026-08-26T02:22:00.8700000Z</dcterms:created>
  <dcterms:modified xsi:type="dcterms:W3CDTF">2026-08-26T02:22:00.8710000Z</dcterms:modified>
</coreProperties>
</file>