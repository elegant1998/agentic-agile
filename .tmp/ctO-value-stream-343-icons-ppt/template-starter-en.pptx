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4f215a8e6e4d3d" /><Relationship Type="http://schemas.openxmlformats.org/officeDocument/2006/relationships/extended-properties" Target="/docProps/app.xml" Id="R4a5e2e6335e841d4" /><Relationship Type="http://schemas.openxmlformats.org/officeDocument/2006/relationships/officeDocument" Target="/ppt/presentation.xml" Id="Rfba766c17de84e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e4c1d33a54482f"/>
  </p:sldMasterIdLst>
  <p:notesMasterIdLst>
    <p:notesMasterId xmlns:r="http://schemas.openxmlformats.org/officeDocument/2006/relationships" r:id="Re72594476fa84f60"/>
  </p:notesMasterIdLst>
  <p:sldIdLst>
    <p:sldId xmlns:r="http://schemas.openxmlformats.org/officeDocument/2006/relationships" id="256" r:id="R2a51ab310eae40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353ae72ca64161" /><Relationship Type="http://schemas.openxmlformats.org/officeDocument/2006/relationships/slideMaster" Target="/ppt/slideMasters/slideMaster1.xml" Id="Reae4c1d33a54482f" /><Relationship Type="http://schemas.openxmlformats.org/officeDocument/2006/relationships/notesMaster" Target="/ppt/notesMasters/notesMaster1.xml" Id="Re72594476fa84f60" /><Relationship Type="http://schemas.openxmlformats.org/officeDocument/2006/relationships/presProps" Target="/ppt/presProps.xml" Id="R6c679437816d44e5" /><Relationship Type="http://schemas.openxmlformats.org/officeDocument/2006/relationships/viewProps" Target="/ppt/viewProps.xml" Id="Rc8fba05ec04847d5" /><Relationship Type="http://schemas.openxmlformats.org/officeDocument/2006/relationships/tableStyles" Target="/ppt/tableStyles.xml" Id="R93d27a422ee642b1" /><Relationship Type="http://schemas.openxmlformats.org/officeDocument/2006/relationships/slide" Target="/ppt/slides/slide1.xml" Id="R2a51ab310eae40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704a024da44c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ae61545c474a7b" /><Relationship Type="http://schemas.openxmlformats.org/officeDocument/2006/relationships/notesMaster" Target="/ppt/notesMasters/notesMaster1.xml" Id="R7efa4b4ddb484e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Agentic Agile Book, Chapter 5: 3-4-3, four dynamic governance artifacts, and SCOPE-V.</a:t>
            </a:r>
          </a:p>
          <a:p xmlns:a="http://schemas.openxmlformats.org/drawingml/2006/main">
            <a:r>
              <a:t>- Agentic Agile Book, Chapter 25: IWE, Document Map and Code Map for trusted task context.</a:t>
            </a:r>
          </a:p>
          <a:p xmlns:a="http://schemas.openxmlformats.org/drawingml/2006/main">
            <a:r>
              <a:t>- Agentic Agile Book, Chapter 26: Basic Memory and evidence-gated learning promotion.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Read the slide from top to bottom: the SDLC value stream is the common operational surface; the four cards show where the three autonomy mechanisms appear.</a:t>
            </a:r>
          </a:p>
          <a:p xmlns:a="http://schemas.openxmlformats.org/drawingml/2006/main">
            <a:r>
              <a:t>- The four rails make 3-4-3 concrete: people and organization own decisions; SCOPE-V governs the operating flow; the four artifacts and supporting tools carry facts, constraints and learning.</a:t>
            </a:r>
          </a:p>
          <a:p xmlns:a="http://schemas.openxmlformats.org/drawingml/2006/main">
            <a:r>
              <a:t>- Success is not code volume. Use comparable work, the same risk boundary, and Contract/Evidence/Telemetry to prove shorter end-to-end lead time without quality or control regression.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b106ffc2214b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168e8e3b7f4d01" /><Relationship Type="http://schemas.openxmlformats.org/officeDocument/2006/relationships/slideLayout" Target="/ppt/slideLayouts/slideLayout1.xml" Id="R94ee1b3e43df4f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ee1b3e43df4f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600b42dff48b3" /><Relationship Type="http://schemas.openxmlformats.org/officeDocument/2006/relationships/notesSlide" Target="/ppt/notesSlides/notesSlide1.xml" Id="R11ede2a3598249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title">
            <a:extLst xmlns:a="http://schemas.openxmlformats.org/drawingml/2006/main">
              <a:ext uri="{FF2B5EF4-FFF2-40B4-BE49-F238E27FC236}">
                <a16:creationId xmlns:a16="http://schemas.microsoft.com/office/drawing/2014/main" id="{A77F0148-2AFC-4761-B993-1A068A1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101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把 3-4-3 嵌入 SDLC：三大自治沿价值流递进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CAC6857-3AB9-4281-8C96-E979CFA2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从客户需求提出到对外发布，3 个角色、4 大工件、3 大自治机制与 SCOPE-V 同步嵌入。</a:t>
            </a:r>
          </a:p>
        </p:txBody>
      </p:sp>
      <p:sp>
        <p:nvSpPr>
          <p:cNvPr id="3" name="thesis">
            <a:extLst xmlns:a="http://schemas.openxmlformats.org/drawingml/2006/main">
              <a:ext uri="{FF2B5EF4-FFF2-40B4-BE49-F238E27FC236}">
                <a16:creationId xmlns:a16="http://schemas.microsoft.com/office/drawing/2014/main" id="{08177534-83B5-4FAC-A3F7-69AEE1CB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109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1024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hesis-text">
            <a:extLst xmlns:a="http://schemas.openxmlformats.org/drawingml/2006/main">
              <a:ext uri="{FF2B5EF4-FFF2-40B4-BE49-F238E27FC236}">
                <a16:creationId xmlns:a16="http://schemas.microsoft.com/office/drawing/2014/main" id="{B3A87EA2-E71A-404E-846C-5FFD78A5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1062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价值流：客户需求 → 需求澄清 → 需求定义 → 架构设计 → 编码 → SIT → 集成测试 → 对外发布</a:t>
            </a:r>
          </a:p>
        </p:txBody>
      </p:sp>
      <p:sp>
        <p:nvSpPr>
          <p:cNvPr id="5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36BD5434-D569-40D6-9EFA-7F41FCF1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907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7C159A60-4C01-4369-ACA9-42B33E4E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907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493353BB-5DA0-4A16-9748-21260CBE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907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phase-选对价值流">
            <a:extLst xmlns:a="http://schemas.openxmlformats.org/drawingml/2006/main">
              <a:ext uri="{FF2B5EF4-FFF2-40B4-BE49-F238E27FC236}">
                <a16:creationId xmlns:a16="http://schemas.microsoft.com/office/drawing/2014/main" id="{860848E6-B8D9-4E5A-82D3-BC0409AA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2457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B968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phase-time-选对价值流">
            <a:extLst xmlns:a="http://schemas.openxmlformats.org/drawingml/2006/main">
              <a:ext uri="{FF2B5EF4-FFF2-40B4-BE49-F238E27FC236}">
                <a16:creationId xmlns:a16="http://schemas.microsoft.com/office/drawing/2014/main" id="{9A4261FE-4546-4A12-A1BA-1FFBB45A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85925"/>
            <a:ext cx="704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968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6800"/>
                </a:solidFill>
                <a:latin typeface="Helvetica Neue"/>
                <a:ea typeface="Helvetica Neue"/>
                <a:cs typeface="Helvetica Neue"/>
              </a:rPr>
              <a:t>意图注入</a:t>
            </a:r>
          </a:p>
        </p:txBody>
      </p:sp>
      <p:sp>
        <p:nvSpPr>
          <p:cNvPr id="10" name="phase-title-选对价值流">
            <a:extLst xmlns:a="http://schemas.openxmlformats.org/drawingml/2006/main">
              <a:ext uri="{FF2B5EF4-FFF2-40B4-BE49-F238E27FC236}">
                <a16:creationId xmlns:a16="http://schemas.microsoft.com/office/drawing/2014/main" id="{A6137810-380E-4030-9AF0-842DBD1E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客户需求 → 澄清</a:t>
            </a:r>
          </a:p>
        </p:txBody>
      </p:sp>
      <p:sp>
        <p:nvSpPr>
          <p:cNvPr id="11" name="phase-body-选对价值流">
            <a:extLst xmlns:a="http://schemas.openxmlformats.org/drawingml/2006/main">
              <a:ext uri="{FF2B5EF4-FFF2-40B4-BE49-F238E27FC236}">
                <a16:creationId xmlns:a16="http://schemas.microsoft.com/office/drawing/2014/main" id="{53D43623-C41C-4E0A-B09D-0B627092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41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IO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+ 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Owner：目标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/ 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护栏</a:t>
            </a:r>
            <a:endParaRPr sz="1088" b="0">
              <a:solidFill>
                <a:srgbClr val="425466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highlight>
                  <a:srgbClr val="00FFFF"/>
                </a:highlight>
                <a:latin typeface="Helvetica Neue"/>
                <a:ea typeface="Helvetica Neue"/>
                <a:cs typeface="Helvetica Neue"/>
              </a:rPr>
              <a:t>SCOPE-V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：Specify</a:t>
            </a:r>
            <a:endParaRPr sz="1088" b="0">
              <a:solidFill>
                <a:srgbClr val="425466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highlight>
                  <a:srgbClr val="00FF00"/>
                </a:highlight>
                <a:latin typeface="Helvetica Neue"/>
                <a:ea typeface="Helvetica Neue"/>
                <a:cs typeface="Helvetica Neue"/>
              </a:rPr>
              <a:t>Intent Graph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+ IWE</a:t>
            </a:r>
          </a:p>
        </p:txBody>
      </p:sp>
      <p:sp>
        <p:nvSpPr>
          <p:cNvPr id="12" name="phase-跑通受控闭环">
            <a:extLst xmlns:a="http://schemas.openxmlformats.org/drawingml/2006/main">
              <a:ext uri="{FF2B5EF4-FFF2-40B4-BE49-F238E27FC236}">
                <a16:creationId xmlns:a16="http://schemas.microsoft.com/office/drawing/2014/main" id="{0C635379-B86D-44FA-ADAE-361A3546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62100"/>
            <a:ext cx="2457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phase-time-跑通受控闭环">
            <a:extLst xmlns:a="http://schemas.openxmlformats.org/drawingml/2006/main">
              <a:ext uri="{FF2B5EF4-FFF2-40B4-BE49-F238E27FC236}">
                <a16:creationId xmlns:a16="http://schemas.microsoft.com/office/drawing/2014/main" id="{F91B9D37-07C3-4658-BAD1-F86084BF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85925"/>
            <a:ext cx="704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意图注入</a:t>
            </a:r>
          </a:p>
        </p:txBody>
      </p:sp>
      <p:sp>
        <p:nvSpPr>
          <p:cNvPr id="14" name="phase-title-跑通受控闭环">
            <a:extLst xmlns:a="http://schemas.openxmlformats.org/drawingml/2006/main">
              <a:ext uri="{FF2B5EF4-FFF2-40B4-BE49-F238E27FC236}">
                <a16:creationId xmlns:a16="http://schemas.microsoft.com/office/drawing/2014/main" id="{13676E43-9C6C-496F-9512-8466E0BD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431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定义 → 架构</a:t>
            </a:r>
          </a:p>
        </p:txBody>
      </p:sp>
      <p:sp>
        <p:nvSpPr>
          <p:cNvPr id="15" name="phase-body-跑通受控闭环">
            <a:extLst xmlns:a="http://schemas.openxmlformats.org/drawingml/2006/main">
              <a:ext uri="{FF2B5EF4-FFF2-40B4-BE49-F238E27FC236}">
                <a16:creationId xmlns:a16="http://schemas.microsoft.com/office/drawing/2014/main" id="{35F4C2B5-EF10-4ABD-9072-42ABA055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669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91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IO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：Contract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/ 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AC；OA：约束</a:t>
            </a:r>
            <a:endParaRPr sz="1088" b="0">
              <a:solidFill>
                <a:srgbClr val="425466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highlight>
                  <a:srgbClr val="00FFFF"/>
                </a:highlight>
                <a:latin typeface="Helvetica Neue"/>
                <a:ea typeface="Helvetica Neue"/>
                <a:cs typeface="Helvetica Neue"/>
              </a:rPr>
              <a:t>SCOPE-V：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Constrain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/ Orchestrate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highlight>
                  <a:srgbClr val="00FF00"/>
                </a:highlight>
                <a:latin typeface="Helvetica Neue"/>
                <a:ea typeface="Helvetica Neue"/>
                <a:cs typeface="Helvetica Neue"/>
              </a:rPr>
              <a:t>Constract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+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088" b="0">
                <a:solidFill>
                  <a:srgbClr val="425466"/>
                </a:solidFill>
                <a:highlight>
                  <a:srgbClr val="00FF00"/>
                </a:highlight>
                <a:latin typeface="Helvetica Neue"/>
                <a:ea typeface="Helvetica Neue"/>
                <a:cs typeface="Helvetica Neue"/>
              </a:rPr>
              <a:t>Constraint 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+ Work Graph</a:t>
            </a:r>
          </a:p>
        </p:txBody>
      </p:sp>
      <p:sp>
        <p:nvSpPr>
          <p:cNvPr id="16" name="phase-让上下文与经验复利">
            <a:extLst xmlns:a="http://schemas.openxmlformats.org/drawingml/2006/main">
              <a:ext uri="{FF2B5EF4-FFF2-40B4-BE49-F238E27FC236}">
                <a16:creationId xmlns:a16="http://schemas.microsoft.com/office/drawing/2014/main" id="{353B2AFE-7049-4E02-A44F-A1B16966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562100"/>
            <a:ext cx="2457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9525">
            <a:solidFill>
              <a:srgbClr val="11B9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phase-time-让上下文与经验复利">
            <a:extLst xmlns:a="http://schemas.openxmlformats.org/drawingml/2006/main">
              <a:ext uri="{FF2B5EF4-FFF2-40B4-BE49-F238E27FC236}">
                <a16:creationId xmlns:a16="http://schemas.microsoft.com/office/drawing/2014/main" id="{4795756C-AD9C-4ED4-99D9-A1465502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85925"/>
            <a:ext cx="704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B9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B9D6"/>
                </a:solidFill>
                <a:latin typeface="Helvetica Neue"/>
                <a:ea typeface="Helvetica Neue"/>
                <a:cs typeface="Helvetica Neue"/>
              </a:rPr>
              <a:t>对抗自净</a:t>
            </a:r>
          </a:p>
        </p:txBody>
      </p:sp>
      <p:sp>
        <p:nvSpPr>
          <p:cNvPr id="18" name="phase-title-让上下文与经验复利">
            <a:extLst xmlns:a="http://schemas.openxmlformats.org/drawingml/2006/main">
              <a:ext uri="{FF2B5EF4-FFF2-40B4-BE49-F238E27FC236}">
                <a16:creationId xmlns:a16="http://schemas.microsoft.com/office/drawing/2014/main" id="{069FBF3F-54F7-4DA5-8EF5-510335A6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431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编码 → SIT</a:t>
            </a:r>
          </a:p>
        </p:txBody>
      </p:sp>
      <p:sp>
        <p:nvSpPr>
          <p:cNvPr id="19" name="phase-body-让上下文与经验复利">
            <a:extLst xmlns:a="http://schemas.openxmlformats.org/drawingml/2006/main">
              <a:ext uri="{FF2B5EF4-FFF2-40B4-BE49-F238E27FC236}">
                <a16:creationId xmlns:a16="http://schemas.microsoft.com/office/drawing/2014/main" id="{D2934DE8-C0FA-4554-8CC7-8DE8AF77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66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41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AS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：实现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/ 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SIT；OA：Harness</a:t>
            </a:r>
            <a:endParaRPr sz="1088" b="0">
              <a:solidFill>
                <a:srgbClr val="425466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highlight>
                  <a:srgbClr val="00FFFF"/>
                </a:highlight>
                <a:latin typeface="Helvetica Neue"/>
                <a:ea typeface="Helvetica Neue"/>
                <a:cs typeface="Helvetica Neue"/>
              </a:rPr>
              <a:t>SCOPE-V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：Prove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↔ Evolve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Code Map + </a:t>
            </a:r>
            <a:r>
              <a:rPr sz="1088" b="0">
                <a:solidFill>
                  <a:srgbClr val="425466"/>
                </a:solidFill>
                <a:highlight>
                  <a:srgbClr val="00FF00"/>
                </a:highlight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20" name="phase-扩大可复制能力">
            <a:extLst xmlns:a="http://schemas.openxmlformats.org/drawingml/2006/main">
              <a:ext uri="{FF2B5EF4-FFF2-40B4-BE49-F238E27FC236}">
                <a16:creationId xmlns:a16="http://schemas.microsoft.com/office/drawing/2014/main" id="{96900311-217B-46C6-8D3F-3F77CABF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562100"/>
            <a:ext cx="2457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CF8F3"/>
          </a:solidFill>
          <a:ln xmlns:a="http://schemas.openxmlformats.org/drawingml/2006/main" w="9525">
            <a:solidFill>
              <a:srgbClr val="1683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phase-time-扩大可复制能力">
            <a:extLst xmlns:a="http://schemas.openxmlformats.org/drawingml/2006/main">
              <a:ext uri="{FF2B5EF4-FFF2-40B4-BE49-F238E27FC236}">
                <a16:creationId xmlns:a16="http://schemas.microsoft.com/office/drawing/2014/main" id="{B76CBDCE-671D-4550-BF54-928D784F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85925"/>
            <a:ext cx="704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683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835C"/>
                </a:solidFill>
                <a:latin typeface="Helvetica Neue"/>
                <a:ea typeface="Helvetica Neue"/>
                <a:cs typeface="Helvetica Neue"/>
              </a:rPr>
              <a:t>HITL 裁决</a:t>
            </a:r>
          </a:p>
        </p:txBody>
      </p:sp>
      <p:sp>
        <p:nvSpPr>
          <p:cNvPr id="22" name="phase-title-扩大可复制能力">
            <a:extLst xmlns:a="http://schemas.openxmlformats.org/drawingml/2006/main">
              <a:ext uri="{FF2B5EF4-FFF2-40B4-BE49-F238E27FC236}">
                <a16:creationId xmlns:a16="http://schemas.microsoft.com/office/drawing/2014/main" id="{25133BC5-9E71-429A-AD51-8976D50F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431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集成 → 发布</a:t>
            </a:r>
          </a:p>
        </p:txBody>
      </p:sp>
      <p:sp>
        <p:nvSpPr>
          <p:cNvPr id="23" name="phase-body-扩大可复制能力">
            <a:extLst xmlns:a="http://schemas.openxmlformats.org/drawingml/2006/main">
              <a:ext uri="{FF2B5EF4-FFF2-40B4-BE49-F238E27FC236}">
                <a16:creationId xmlns:a16="http://schemas.microsoft.com/office/drawing/2014/main" id="{FD9C8F46-E07D-4F27-92A4-F07FFE1F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66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41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AS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：集成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/ 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回归；</a:t>
            </a:r>
            <a:r>
              <a:rPr sz="1088" b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IO</a:t>
            </a:r>
            <a:r>
              <a:rPr sz="1088" b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 / </a:t>
            </a:r>
            <a:r>
              <a:rPr sz="1088" b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OA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：Verify</a:t>
            </a:r>
            <a:endParaRPr sz="1088" b="0">
              <a:solidFill>
                <a:srgbClr val="425466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highlight>
                  <a:srgbClr val="00FFFF"/>
                </a:highlight>
                <a:latin typeface="Helvetica Neue"/>
                <a:ea typeface="Helvetica Neue"/>
                <a:cs typeface="Helvetica Neue"/>
              </a:rPr>
              <a:t>SCOPE-V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：Verify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→ Telemetry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highlight>
                  <a:srgbClr val="00FF00"/>
                </a:highlight>
                <a:latin typeface="Helvetica Neue"/>
                <a:ea typeface="Helvetica Neue"/>
                <a:cs typeface="Helvetica Neue"/>
              </a:rPr>
              <a:t>Evidence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+ Memory</a:t>
            </a:r>
          </a:p>
        </p:txBody>
      </p:sp>
      <p:sp>
        <p:nvSpPr>
          <p:cNvPr id="24" name="four-dim-title">
            <a:extLst xmlns:a="http://schemas.openxmlformats.org/drawingml/2006/main">
              <a:ext uri="{FF2B5EF4-FFF2-40B4-BE49-F238E27FC236}">
                <a16:creationId xmlns:a16="http://schemas.microsoft.com/office/drawing/2014/main" id="{D40CD4B9-D254-42D7-9798-DC2AD4AE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71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3-4-3 的四维嵌入：角色、工件与自治都沿同一条价值流运行</a:t>
            </a:r>
          </a:p>
        </p:txBody>
      </p:sp>
      <p:sp>
        <p:nvSpPr>
          <p:cNvPr id="25" name="rail-人员">
            <a:extLst xmlns:a="http://schemas.openxmlformats.org/drawingml/2006/main">
              <a:ext uri="{FF2B5EF4-FFF2-40B4-BE49-F238E27FC236}">
                <a16:creationId xmlns:a16="http://schemas.microsoft.com/office/drawing/2014/main" id="{04054885-7DE1-4E4E-9783-6956EDCC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76600"/>
            <a:ext cx="110109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ail-chip-人员">
            <a:extLst xmlns:a="http://schemas.openxmlformats.org/drawingml/2006/main">
              <a:ext uri="{FF2B5EF4-FFF2-40B4-BE49-F238E27FC236}">
                <a16:creationId xmlns:a16="http://schemas.microsoft.com/office/drawing/2014/main" id="{5035838D-CA26-4075-9ADC-00CD848A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76600"/>
            <a:ext cx="10668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B96800"/>
          </a:solidFill>
          <a:ln xmlns:a="http://schemas.openxmlformats.org/drawingml/2006/main" w="9525">
            <a:solidFill>
              <a:srgbClr val="B968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ail-label-人员">
            <a:extLst xmlns:a="http://schemas.openxmlformats.org/drawingml/2006/main">
              <a:ext uri="{FF2B5EF4-FFF2-40B4-BE49-F238E27FC236}">
                <a16:creationId xmlns:a16="http://schemas.microsoft.com/office/drawing/2014/main" id="{C2D741C6-4ED4-448F-8186-326D11E6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人员</a:t>
            </a:r>
          </a:p>
        </p:txBody>
      </p:sp>
      <p:sp>
        <p:nvSpPr>
          <p:cNvPr id="28" name="rail-body-人员">
            <a:extLst xmlns:a="http://schemas.openxmlformats.org/drawingml/2006/main">
              <a:ext uri="{FF2B5EF4-FFF2-40B4-BE49-F238E27FC236}">
                <a16:creationId xmlns:a16="http://schemas.microsoft.com/office/drawing/2014/main" id="{BFDEE142-A79D-469E-86F2-AB5B4E6F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3432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IO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主导需求、定义与发布裁决；</a:t>
            </a:r>
            <a:r>
              <a:rPr sz="1200" b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OA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贯穿控制与编排；</a:t>
            </a:r>
            <a:r>
              <a:rPr sz="1200" b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AS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承担编码、测试、集成的受约束执行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。</a:t>
            </a:r>
          </a:p>
        </p:txBody>
      </p:sp>
      <p:sp>
        <p:nvSpPr>
          <p:cNvPr id="29" name="rail-组织">
            <a:extLst xmlns:a="http://schemas.openxmlformats.org/drawingml/2006/main">
              <a:ext uri="{FF2B5EF4-FFF2-40B4-BE49-F238E27FC236}">
                <a16:creationId xmlns:a16="http://schemas.microsoft.com/office/drawing/2014/main" id="{88916D52-20F6-4DCA-9047-418E4B79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86175"/>
            <a:ext cx="110109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rail-chip-组织">
            <a:extLst xmlns:a="http://schemas.openxmlformats.org/drawingml/2006/main">
              <a:ext uri="{FF2B5EF4-FFF2-40B4-BE49-F238E27FC236}">
                <a16:creationId xmlns:a16="http://schemas.microsoft.com/office/drawing/2014/main" id="{8E5453AA-B53B-4084-B346-25BE82C0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86175"/>
            <a:ext cx="10668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ail-label-组织">
            <a:extLst xmlns:a="http://schemas.openxmlformats.org/drawingml/2006/main">
              <a:ext uri="{FF2B5EF4-FFF2-40B4-BE49-F238E27FC236}">
                <a16:creationId xmlns:a16="http://schemas.microsoft.com/office/drawing/2014/main" id="{DF8DA90B-1202-484E-B0D6-87241B5A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组织</a:t>
            </a:r>
          </a:p>
        </p:txBody>
      </p:sp>
      <p:sp>
        <p:nvSpPr>
          <p:cNvPr id="32" name="rail-body-组织">
            <a:extLst xmlns:a="http://schemas.openxmlformats.org/drawingml/2006/main">
              <a:ext uri="{FF2B5EF4-FFF2-40B4-BE49-F238E27FC236}">
                <a16:creationId xmlns:a16="http://schemas.microsoft.com/office/drawing/2014/main" id="{6A8C4915-43E9-43CA-AA40-EC4683F9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7528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业务 Owner、产品、架构、研发、测试与运维围绕同一 Contract 协作；例外在正确节点裁决。</a:t>
            </a:r>
          </a:p>
        </p:txBody>
      </p:sp>
      <p:sp>
        <p:nvSpPr>
          <p:cNvPr id="33" name="rail-流程">
            <a:extLst xmlns:a="http://schemas.openxmlformats.org/drawingml/2006/main">
              <a:ext uri="{FF2B5EF4-FFF2-40B4-BE49-F238E27FC236}">
                <a16:creationId xmlns:a16="http://schemas.microsoft.com/office/drawing/2014/main" id="{54BC8370-C66B-47A6-8F75-66E77B11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110109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ail-chip-流程">
            <a:extLst xmlns:a="http://schemas.openxmlformats.org/drawingml/2006/main">
              <a:ext uri="{FF2B5EF4-FFF2-40B4-BE49-F238E27FC236}">
                <a16:creationId xmlns:a16="http://schemas.microsoft.com/office/drawing/2014/main" id="{F9FD4851-5095-4319-95DE-1BF94CA1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10668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11B9D6"/>
          </a:solidFill>
          <a:ln xmlns:a="http://schemas.openxmlformats.org/drawingml/2006/main" w="9525">
            <a:solidFill>
              <a:srgbClr val="11B9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rail-label-流程">
            <a:extLst xmlns:a="http://schemas.openxmlformats.org/drawingml/2006/main">
              <a:ext uri="{FF2B5EF4-FFF2-40B4-BE49-F238E27FC236}">
                <a16:creationId xmlns:a16="http://schemas.microsoft.com/office/drawing/2014/main" id="{E2D8590A-82DD-4180-9F52-EB5E96DD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流程</a:t>
            </a:r>
          </a:p>
        </p:txBody>
      </p:sp>
      <p:sp>
        <p:nvSpPr>
          <p:cNvPr id="36" name="rail-body-流程">
            <a:extLst xmlns:a="http://schemas.openxmlformats.org/drawingml/2006/main">
              <a:ext uri="{FF2B5EF4-FFF2-40B4-BE49-F238E27FC236}">
                <a16:creationId xmlns:a16="http://schemas.microsoft.com/office/drawing/2014/main" id="{35190C33-C0DD-4575-8B05-8CB9BD70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624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0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highlight>
                  <a:srgbClr val="00FFFF"/>
                </a:highlight>
                <a:latin typeface="Helvetica Neue"/>
                <a:ea typeface="Helvetica Neue"/>
                <a:cs typeface="Helvetica Neue"/>
              </a:rPr>
              <a:t>SCOPE-V 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的阶段落点：Specify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→ Constrain / Orchestrate → Prove ↔ Evolve → Verify → 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Telemetry；每一步都有启动条件、停止条件与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Evidence。</a:t>
            </a:r>
          </a:p>
        </p:txBody>
      </p:sp>
      <p:sp>
        <p:nvSpPr>
          <p:cNvPr id="37" name="rail-工具">
            <a:extLst xmlns:a="http://schemas.openxmlformats.org/drawingml/2006/main">
              <a:ext uri="{FF2B5EF4-FFF2-40B4-BE49-F238E27FC236}">
                <a16:creationId xmlns:a16="http://schemas.microsoft.com/office/drawing/2014/main" id="{B5BC94AD-E29A-4791-9EF3-0D08E8A3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05325"/>
            <a:ext cx="110109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rail-chip-工具">
            <a:extLst xmlns:a="http://schemas.openxmlformats.org/drawingml/2006/main">
              <a:ext uri="{FF2B5EF4-FFF2-40B4-BE49-F238E27FC236}">
                <a16:creationId xmlns:a16="http://schemas.microsoft.com/office/drawing/2014/main" id="{6DDCB258-B649-4C44-AE42-C43E6528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05325"/>
            <a:ext cx="10668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16835C"/>
          </a:solidFill>
          <a:ln xmlns:a="http://schemas.openxmlformats.org/drawingml/2006/main" w="9525">
            <a:solidFill>
              <a:srgbClr val="1683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rail-label-工具">
            <a:extLst xmlns:a="http://schemas.openxmlformats.org/drawingml/2006/main">
              <a:ext uri="{FF2B5EF4-FFF2-40B4-BE49-F238E27FC236}">
                <a16:creationId xmlns:a16="http://schemas.microsoft.com/office/drawing/2014/main" id="{A65A4E05-8F44-4F50-8739-883D9B7F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815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工件·工具</a:t>
            </a:r>
          </a:p>
        </p:txBody>
      </p:sp>
      <p:sp>
        <p:nvSpPr>
          <p:cNvPr id="40" name="rail-body-工具">
            <a:extLst xmlns:a="http://schemas.openxmlformats.org/drawingml/2006/main">
              <a:ext uri="{FF2B5EF4-FFF2-40B4-BE49-F238E27FC236}">
                <a16:creationId xmlns:a16="http://schemas.microsoft.com/office/drawing/2014/main" id="{0E3956A2-EF2B-448E-8E80-848C54AB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5720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四大工件：</a:t>
            </a:r>
            <a:r>
              <a:rPr sz="1200" b="0">
                <a:solidFill>
                  <a:srgbClr val="425466"/>
                </a:solidFill>
                <a:highlight>
                  <a:srgbClr val="00FF00"/>
                </a:highlight>
                <a:latin typeface="Helvetica Neue"/>
                <a:ea typeface="Helvetica Neue"/>
                <a:cs typeface="Helvetica Neue"/>
              </a:rPr>
              <a:t>意图图谱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→ </a:t>
            </a:r>
            <a:r>
              <a:rPr sz="1200" b="0">
                <a:solidFill>
                  <a:srgbClr val="425466"/>
                </a:solidFill>
                <a:highlight>
                  <a:srgbClr val="00FF00"/>
                </a:highlight>
                <a:latin typeface="Helvetica Neue"/>
                <a:ea typeface="Helvetica Neue"/>
                <a:cs typeface="Helvetica Neue"/>
              </a:rPr>
              <a:t>意图契约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→ </a:t>
            </a:r>
            <a:r>
              <a:rPr sz="1200" b="0">
                <a:solidFill>
                  <a:srgbClr val="425466"/>
                </a:solidFill>
                <a:highlight>
                  <a:srgbClr val="00FF00"/>
                </a:highlight>
                <a:latin typeface="Helvetica Neue"/>
                <a:ea typeface="Helvetica Neue"/>
                <a:cs typeface="Helvetica Neue"/>
              </a:rPr>
              <a:t>约束矩阵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→ </a:t>
            </a:r>
            <a:r>
              <a:rPr sz="1200" b="0">
                <a:solidFill>
                  <a:srgbClr val="425466"/>
                </a:solidFill>
                <a:highlight>
                  <a:srgbClr val="00FF00"/>
                </a:highlight>
                <a:latin typeface="Helvetica Neue"/>
                <a:ea typeface="Helvetica Neue"/>
                <a:cs typeface="Helvetica Neue"/>
              </a:rPr>
              <a:t>Evidence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；IWE×Code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Map、Harness、Memory、Telemetry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贯穿任务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。</a:t>
            </a:r>
          </a:p>
        </p:txBody>
      </p:sp>
      <p:sp>
        <p:nvSpPr>
          <p:cNvPr id="41" name="outcome-panel">
            <a:extLst xmlns:a="http://schemas.openxmlformats.org/drawingml/2006/main">
              <a:ext uri="{FF2B5EF4-FFF2-40B4-BE49-F238E27FC236}">
                <a16:creationId xmlns:a16="http://schemas.microsoft.com/office/drawing/2014/main" id="{7F38DC27-B160-426B-B91F-0DFA09BF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67300"/>
            <a:ext cx="518160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outcome-head">
            <a:extLst xmlns:a="http://schemas.openxmlformats.org/drawingml/2006/main">
              <a:ext uri="{FF2B5EF4-FFF2-40B4-BE49-F238E27FC236}">
                <a16:creationId xmlns:a16="http://schemas.microsoft.com/office/drawing/2014/main" id="{E59FE4F8-2A8E-4BFD-9B1D-29EEE85E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阶段动作与改善指标</a:t>
            </a:r>
          </a:p>
        </p:txBody>
      </p:sp>
      <p:sp>
        <p:nvSpPr>
          <p:cNvPr id="43" name="outcome-body">
            <a:extLst xmlns:a="http://schemas.openxmlformats.org/drawingml/2006/main">
              <a:ext uri="{FF2B5EF4-FFF2-40B4-BE49-F238E27FC236}">
                <a16:creationId xmlns:a16="http://schemas.microsoft.com/office/drawing/2014/main" id="{B39B1606-1547-4E2A-9240-10552CD8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14975"/>
            <a:ext cx="466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需求：C&amp;A% / 澄清返工 ｜ 工程：编码→SIT Lead Time / 首次通过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交付：集成→发布 Lead Time / 逃逸缺陷 ｜ 运行：回退、HITL、Token + 人工成本</a:t>
            </a:r>
          </a:p>
        </p:txBody>
      </p:sp>
      <p:sp>
        <p:nvSpPr>
          <p:cNvPr id="44" name="proof-panel">
            <a:extLst xmlns:a="http://schemas.openxmlformats.org/drawingml/2006/main">
              <a:ext uri="{FF2B5EF4-FFF2-40B4-BE49-F238E27FC236}">
                <a16:creationId xmlns:a16="http://schemas.microsoft.com/office/drawing/2014/main" id="{DBB8875E-9C02-4D8B-BF8A-B50D2325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067300"/>
            <a:ext cx="55816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proof-head">
            <a:extLst xmlns:a="http://schemas.openxmlformats.org/drawingml/2006/main">
              <a:ext uri="{FF2B5EF4-FFF2-40B4-BE49-F238E27FC236}">
                <a16:creationId xmlns:a16="http://schemas.microsoft.com/office/drawing/2014/main" id="{63C9B8AA-9029-4525-8221-182DD24C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19700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2329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证明：不是局部效率，而是端到端有效交付</a:t>
            </a:r>
          </a:p>
        </p:txBody>
      </p:sp>
      <p:sp>
        <p:nvSpPr>
          <p:cNvPr id="46" name="proof-body">
            <a:extLst xmlns:a="http://schemas.openxmlformats.org/drawingml/2006/main">
              <a:ext uri="{FF2B5EF4-FFF2-40B4-BE49-F238E27FC236}">
                <a16:creationId xmlns:a16="http://schemas.microsoft.com/office/drawing/2014/main" id="{14C9C814-8CEE-4FC3-8388-0E8FBCE3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514975"/>
            <a:ext cx="5124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主指标：端到端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Lead Time ｜ 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配套：C&amp;A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%、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首次通过、返工、逃逸缺陷</a:t>
            </a:r>
            <a:endParaRPr sz="1200" b="0">
              <a:solidFill>
                <a:srgbClr val="425466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同类任务、同一风险边界：基线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vs. 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趋势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+ Contract / Evidence / Telemetry</a:t>
            </a:r>
          </a:p>
        </p:txBody>
      </p:sp>
      <p:sp>
        <p:nvSpPr>
          <p:cNvPr id="47" name="footer">
            <a:extLst xmlns:a="http://schemas.openxmlformats.org/drawingml/2006/main">
              <a:ext uri="{FF2B5EF4-FFF2-40B4-BE49-F238E27FC236}">
                <a16:creationId xmlns:a16="http://schemas.microsoft.com/office/drawing/2014/main" id="{52EEF19E-745F-4146-B0E2-17E9B0FD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952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E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E7E92"/>
                </a:solidFill>
                <a:latin typeface="Helvetica Neue"/>
                <a:ea typeface="Helvetica Neue"/>
                <a:cs typeface="Helvetica Neue"/>
              </a:rPr>
              <a:t>Agentic Agile｜让每一个 SDLC 阶段更快、更准、更可控，并能证明结果</a:t>
            </a:r>
          </a:p>
        </p:txBody>
      </p:sp>
    </p:spTree>
    <p:extLst>
      <p:ext uri="{BB962C8B-B14F-4D97-AF65-F5344CB8AC3E}">
        <p14:creationId xmlns:p14="http://schemas.microsoft.com/office/powerpoint/2010/main" val="10841187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2026-08-26T02:47:46.6790000Z</dcterms:created>
  <dcterms:modified xsi:type="dcterms:W3CDTF">2026-08-26T02:47:46.6790000Z</dcterms:modified>
</coreProperties>
</file>