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43cdd1386d4f49" /><Relationship Type="http://schemas.openxmlformats.org/officeDocument/2006/relationships/extended-properties" Target="/docProps/app.xml" Id="R50a37ef591dc4ad5" /><Relationship Type="http://schemas.openxmlformats.org/officeDocument/2006/relationships/officeDocument" Target="/ppt/presentation.xml" Id="R65cc7e6b7bce47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673111081d42c6"/>
  </p:sldMasterIdLst>
  <p:notesMasterIdLst>
    <p:notesMasterId xmlns:r="http://schemas.openxmlformats.org/officeDocument/2006/relationships" r:id="R0c76e77f7b1544e3"/>
  </p:notesMasterIdLst>
  <p:sldIdLst>
    <p:sldId xmlns:r="http://schemas.openxmlformats.org/officeDocument/2006/relationships" id="256" r:id="R3c41a22e29914f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3ff86621584b45" /><Relationship Type="http://schemas.openxmlformats.org/officeDocument/2006/relationships/slideMaster" Target="/ppt/slideMasters/slideMaster1.xml" Id="Rd3673111081d42c6" /><Relationship Type="http://schemas.openxmlformats.org/officeDocument/2006/relationships/notesMaster" Target="/ppt/notesMasters/notesMaster1.xml" Id="R0c76e77f7b1544e3" /><Relationship Type="http://schemas.openxmlformats.org/officeDocument/2006/relationships/presProps" Target="/ppt/presProps.xml" Id="R74cb148e421344d1" /><Relationship Type="http://schemas.openxmlformats.org/officeDocument/2006/relationships/viewProps" Target="/ppt/viewProps.xml" Id="R5ffac6aa3acd47cf" /><Relationship Type="http://schemas.openxmlformats.org/officeDocument/2006/relationships/tableStyles" Target="/ppt/tableStyles.xml" Id="R9c474d009081403a" /><Relationship Type="http://schemas.openxmlformats.org/officeDocument/2006/relationships/slide" Target="/ppt/slides/slide1.xml" Id="R3c41a22e29914f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e690ec61c847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334ae66214102" /><Relationship Type="http://schemas.openxmlformats.org/officeDocument/2006/relationships/notesMaster" Target="/ppt/notesMasters/notesMaster1.xml" Id="Rd82c37b59fc34f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Agile Book, Chapter 5: 3-4-3, four dynamic governance artifacts, and SCOPE-V.</a:t>
            </a:r>
          </a:p>
          <a:p xmlns:a="http://schemas.openxmlformats.org/drawingml/2006/main">
            <a:r>
              <a:t>- Agentic Agile Book, Chapter 25: IWE, Document Map and Code Map for trusted task context.</a:t>
            </a:r>
          </a:p>
          <a:p xmlns:a="http://schemas.openxmlformats.org/drawingml/2006/main">
            <a:r>
              <a:t>- Agentic Agile Book, Chapter 26: Basic Memory and evidence-gated learning promotion.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Read the slide from top to bottom: the SDLC value stream is the common operational surface; the four cards show where the three autonomy mechanisms appear.</a:t>
            </a:r>
          </a:p>
          <a:p xmlns:a="http://schemas.openxmlformats.org/drawingml/2006/main">
            <a:r>
              <a:t>- The four rails make 3-4-3 concrete: people and organization own decisions; SCOPE-V governs the operating flow; the four artifacts and supporting tools carry facts, constraints and learning.</a:t>
            </a:r>
          </a:p>
          <a:p xmlns:a="http://schemas.openxmlformats.org/drawingml/2006/main">
            <a:r>
              <a:t>- Success is not code volume. Use comparable work, the same risk boundary, and Contract/Evidence/Telemetry to prove shorter end-to-end lead time without quality or control regression.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434c995364e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4049938b0a4015" /><Relationship Type="http://schemas.openxmlformats.org/officeDocument/2006/relationships/slideLayout" Target="/ppt/slideLayouts/slideLayout1.xml" Id="Rbddacace3ccf48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dacace3ccf48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558d40d3b46a6" /><Relationship Type="http://schemas.openxmlformats.org/officeDocument/2006/relationships/notesSlide" Target="/ppt/notesSlides/notesSlide1.xml" Id="R862347f87e1e44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把 3-4-3 嵌入 SDLC：三大自治沿价值流递进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从客户需求提出到对外发布，3 个角色、4 大工件、3 大自治机制与 SCOPE-V 同步嵌入。</a:t>
            </a:r>
          </a:p>
        </p:txBody>
      </p:sp>
      <p:sp>
        <p:nvSpPr>
          <p:cNvPr id="3" name="thesis">
            <a:extLst xmlns:a="http://schemas.openxmlformats.org/drawingml/2006/main"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esis-text">
            <a:extLst xmlns:a="http://schemas.openxmlformats.org/drawingml/2006/main"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62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价值流：客户需求 → 需求澄清 → 需求定义 → 架构设计 → 编码 → SIT → 集成测试 → 对外发布</a:t>
            </a:r>
          </a:p>
        </p:txBody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phase-选对价值流">
            <a:extLst xmlns:a="http://schemas.openxmlformats.org/drawingml/2006/main"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phase-time-选对价值流">
            <a:extLst xmlns:a="http://schemas.openxmlformats.org/drawingml/2006/main"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意图注入</a:t>
            </a:r>
          </a:p>
        </p:txBody>
      </p:sp>
      <p:sp>
        <p:nvSpPr>
          <p:cNvPr id="10" name="phase-title-选对价值流">
            <a:extLst xmlns:a="http://schemas.openxmlformats.org/drawingml/2006/main"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客户需求 → 澄清</a:t>
            </a:r>
          </a:p>
        </p:txBody>
      </p:sp>
      <p:sp>
        <p:nvSpPr>
          <p:cNvPr id="11" name="phase-body-选对价值流">
            <a:extLst xmlns:a="http://schemas.openxmlformats.org/drawingml/2006/main"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Owner：目标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护栏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：Specify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Intent Graph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IWE</a:t>
            </a:r>
          </a:p>
        </p:txBody>
      </p:sp>
      <p:sp>
        <p:nvSpPr>
          <p:cNvPr id="12" name="phas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phase-tim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意图注入</a:t>
            </a:r>
          </a:p>
        </p:txBody>
      </p:sp>
      <p:sp>
        <p:nvSpPr>
          <p:cNvPr id="14" name="phase-titl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定义 → 架构</a:t>
            </a:r>
          </a:p>
        </p:txBody>
      </p:sp>
      <p:sp>
        <p:nvSpPr>
          <p:cNvPr id="15" name="phase-body-跑通受控闭环">
            <a:extLst xmlns:a="http://schemas.openxmlformats.org/drawingml/2006/main"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：Contract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AC；OA：约束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SCOPE-V：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Constrain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Orchestrate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Constract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Constraint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 Work Graph</a:t>
            </a:r>
          </a:p>
        </p:txBody>
      </p:sp>
      <p:sp>
        <p:nvSpPr>
          <p:cNvPr id="16" name="phas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phase-tim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对抗自净</a:t>
            </a:r>
          </a:p>
        </p:txBody>
      </p:sp>
      <p:sp>
        <p:nvSpPr>
          <p:cNvPr id="18" name="phase-titl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编码 → SIT</a:t>
            </a:r>
          </a:p>
        </p:txBody>
      </p:sp>
      <p:sp>
        <p:nvSpPr>
          <p:cNvPr id="19" name="phase-body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：实现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SIT；OA：Harness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：Prove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↔ Evolve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Code Map + </a:t>
            </a: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0" name="phas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8F3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hase-tim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HITL 裁决</a:t>
            </a:r>
          </a:p>
        </p:txBody>
      </p:sp>
      <p:sp>
        <p:nvSpPr>
          <p:cNvPr id="22" name="phase-titl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集成 → 发布</a:t>
            </a:r>
          </a:p>
        </p:txBody>
      </p:sp>
      <p:sp>
        <p:nvSpPr>
          <p:cNvPr id="23" name="phase-body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：集成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回归；</a:t>
            </a: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OA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：Verify</a:t>
            </a:r>
            <a:endParaRPr sz="1088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：Verify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Telemetry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Memory</a:t>
            </a:r>
          </a:p>
        </p:txBody>
      </p:sp>
      <p:sp>
        <p:nvSpPr>
          <p:cNvPr id="24" name="four-dim-title">
            <a:extLst xmlns:a="http://schemas.openxmlformats.org/drawingml/2006/main"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3-4-3 的四维嵌入：角色、工件与自治都沿同一条价值流运行</a:t>
            </a:r>
          </a:p>
        </p:txBody>
      </p:sp>
      <p:sp>
        <p:nvSpPr>
          <p:cNvPr id="25" name="rail-人员">
            <a:extLst xmlns:a="http://schemas.openxmlformats.org/drawingml/2006/main"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ail-chip-人员">
            <a:extLst xmlns:a="http://schemas.openxmlformats.org/drawingml/2006/main"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B96800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ail-label-人员">
            <a:extLst xmlns:a="http://schemas.openxmlformats.org/drawingml/2006/main"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人员</a:t>
            </a:r>
          </a:p>
        </p:txBody>
      </p:sp>
      <p:sp>
        <p:nvSpPr>
          <p:cNvPr id="28" name="rail-body-人员">
            <a:extLst xmlns:a="http://schemas.openxmlformats.org/drawingml/2006/main"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43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主导需求、定义与发布裁决；</a:t>
            </a:r>
            <a:r>
              <a:rPr sz="1200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OA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贯穿控制与编排；</a:t>
            </a:r>
            <a:r>
              <a:rPr sz="1200" b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承担编码、测试、集成的受约束执行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。</a:t>
            </a:r>
          </a:p>
        </p:txBody>
      </p:sp>
      <p:sp>
        <p:nvSpPr>
          <p:cNvPr id="29" name="rail-组织">
            <a:extLst xmlns:a="http://schemas.openxmlformats.org/drawingml/2006/main"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ail-chip-组织">
            <a:extLst xmlns:a="http://schemas.openxmlformats.org/drawingml/2006/main"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ail-label-组织">
            <a:extLst xmlns:a="http://schemas.openxmlformats.org/drawingml/2006/main"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组织</a:t>
            </a:r>
          </a:p>
        </p:txBody>
      </p:sp>
      <p:sp>
        <p:nvSpPr>
          <p:cNvPr id="32" name="rail-body-组织">
            <a:extLst xmlns:a="http://schemas.openxmlformats.org/drawingml/2006/main"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52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 Owner、产品、架构、研发、测试与运维围绕同一 Contract 协作；例外在正确节点裁决。</a:t>
            </a:r>
          </a:p>
        </p:txBody>
      </p:sp>
      <p:sp>
        <p:nvSpPr>
          <p:cNvPr id="33" name="rail-流程">
            <a:extLst xmlns:a="http://schemas.openxmlformats.org/drawingml/2006/main"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ail-chip-流程">
            <a:extLst xmlns:a="http://schemas.openxmlformats.org/drawingml/2006/main"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1B9D6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ail-label-流程">
            <a:extLst xmlns:a="http://schemas.openxmlformats.org/drawingml/2006/main"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流程</a:t>
            </a:r>
          </a:p>
        </p:txBody>
      </p:sp>
      <p:sp>
        <p:nvSpPr>
          <p:cNvPr id="36" name="rail-body-流程">
            <a:extLst xmlns:a="http://schemas.openxmlformats.org/drawingml/2006/main"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624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的阶段落点：Specify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Constrain / Orchestrate → Prove ↔ Evolve → Verify →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Telemetry；每一步都有启动条件、停止条件与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Evidence。</a:t>
            </a:r>
          </a:p>
        </p:txBody>
      </p:sp>
      <p:sp>
        <p:nvSpPr>
          <p:cNvPr id="37" name="rail-工具">
            <a:extLst xmlns:a="http://schemas.openxmlformats.org/drawingml/2006/main"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ail-chip-工具">
            <a:extLst xmlns:a="http://schemas.openxmlformats.org/drawingml/2006/main"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835C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ail-label-工具">
            <a:extLst xmlns:a="http://schemas.openxmlformats.org/drawingml/2006/main"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工件·工具</a:t>
            </a:r>
          </a:p>
        </p:txBody>
      </p:sp>
      <p:sp>
        <p:nvSpPr>
          <p:cNvPr id="40" name="rail-body-工具">
            <a:extLst xmlns:a="http://schemas.openxmlformats.org/drawingml/2006/main"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72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四大工件：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意图图谱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意图契约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约束矩阵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；IWE×Code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Map、Harness、Memory、Telemetry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贯穿任务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。</a:t>
            </a:r>
          </a:p>
        </p:txBody>
      </p:sp>
      <p:sp>
        <p:nvSpPr>
          <p:cNvPr id="41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1816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阶段动作与改善指标</a:t>
            </a:r>
          </a:p>
        </p:txBody>
      </p:sp>
      <p:sp>
        <p:nvSpPr>
          <p:cNvPr id="43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需求：C&amp;A% / 澄清返工 ｜ 工程：编码→SIT Lead Time / 首次通过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交付：集成→发布 Lead Time / 逃逸缺陷 ｜ 运行：回退、HITL、Token + 人工成本</a:t>
            </a:r>
          </a:p>
        </p:txBody>
      </p:sp>
      <p:sp>
        <p:nvSpPr>
          <p:cNvPr id="44" name="proof-panel">
            <a:extLst xmlns:a="http://schemas.openxmlformats.org/drawingml/2006/main"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67300"/>
            <a:ext cx="55816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roof-head">
            <a:extLst xmlns:a="http://schemas.openxmlformats.org/drawingml/2006/main"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3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证明：不是局部效率，而是端到端有效交付</a:t>
            </a:r>
          </a:p>
        </p:txBody>
      </p:sp>
      <p:sp>
        <p:nvSpPr>
          <p:cNvPr id="46" name="proof-body">
            <a:extLst xmlns:a="http://schemas.openxmlformats.org/drawingml/2006/main"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124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主指标：端到端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Lead Time ｜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配套：C&amp;A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%、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首次通过、返工、逃逸缺陷</a:t>
            </a:r>
            <a:endParaRPr sz="1200" b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同类任务、同一风险边界：基线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vs. 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趋势</a:t>
            </a: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Contract / Evidence / Telemetry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952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Agile｜让每一个 SDLC 阶段更快、更准、更可控，并能证明结果</a:t>
            </a:r>
          </a:p>
        </p:txBody>
      </p:sp>
    </p:spTree>
    <p:extLst>
      <p:ext uri="{BB962C8B-B14F-4D97-AF65-F5344CB8AC3E}">
        <p14:creationId xmlns:p14="http://schemas.microsoft.com/office/powerpoint/2010/main" val="1084118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2026-08-26T02:47:36.2520000Z</dcterms:created>
  <dcterms:modified xsi:type="dcterms:W3CDTF">2026-08-26T02:47:36.2520000Z</dcterms:modified>
</coreProperties>
</file>