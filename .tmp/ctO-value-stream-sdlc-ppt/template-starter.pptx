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d13affb6214320" /><Relationship Type="http://schemas.openxmlformats.org/officeDocument/2006/relationships/extended-properties" Target="/docProps/app.xml" Id="R6e65cdc3aaaa482d" /><Relationship Type="http://schemas.openxmlformats.org/officeDocument/2006/relationships/officeDocument" Target="/ppt/presentation.xml" Id="R68278801dba246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b2798730ef48f9"/>
  </p:sldMasterIdLst>
  <p:notesMasterIdLst>
    <p:notesMasterId xmlns:r="http://schemas.openxmlformats.org/officeDocument/2006/relationships" r:id="Rf0a370324f18455e"/>
  </p:notesMasterIdLst>
  <p:sldIdLst>
    <p:sldId xmlns:r="http://schemas.openxmlformats.org/officeDocument/2006/relationships" id="256" r:id="Recf07f46a04e469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3f208fb0c2488a" /><Relationship Type="http://schemas.openxmlformats.org/officeDocument/2006/relationships/slideMaster" Target="/ppt/slideMasters/slideMaster1.xml" Id="R12b2798730ef48f9" /><Relationship Type="http://schemas.openxmlformats.org/officeDocument/2006/relationships/notesMaster" Target="/ppt/notesMasters/notesMaster1.xml" Id="Rf0a370324f18455e" /><Relationship Type="http://schemas.openxmlformats.org/officeDocument/2006/relationships/presProps" Target="/ppt/presProps.xml" Id="R822781d4cd724b24" /><Relationship Type="http://schemas.openxmlformats.org/officeDocument/2006/relationships/viewProps" Target="/ppt/viewProps.xml" Id="Rd44b48b039d44c54" /><Relationship Type="http://schemas.openxmlformats.org/officeDocument/2006/relationships/tableStyles" Target="/ppt/tableStyles.xml" Id="R6c5185e42b08447f" /><Relationship Type="http://schemas.openxmlformats.org/officeDocument/2006/relationships/slide" Target="/ppt/slides/slide1.xml" Id="Recf07f46a04e46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3a72a0bdb74e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ee4f1d81f446e0" /><Relationship Type="http://schemas.openxmlformats.org/officeDocument/2006/relationships/notesMaster" Target="/ppt/notesMasters/notesMaster1.xml" Id="R47c64161d59349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Agentic Agile book, Chapters 2, 5, 16, 25, 26.</a:t>
            </a:r>
          </a:p>
          <a:p xmlns:a="http://schemas.openxmlformats.org/drawingml/2006/main">
            <a:r>
              <a:t>- This slide shows a recommended 12-week pilot sequence. It does not claim guaranteed numerical outcomes.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Presenter emphasis:</a:t>
            </a:r>
          </a:p>
          <a:p xmlns:a="http://schemas.openxmlformats.org/drawingml/2006/main">
            <a:r>
              <a:t>Start with one product value stream and a business result, not an enterprise platform. The double-map structure makes current facts available: IWE holds documented intent, rules and decisions; Code Map locates the actual implementation and tests. Basic Memory preserves task state and candidate learning, while promotion gates ensure only evidence-backed knowledge becomes reusable organizational assets. The scale decision must use comparable baselines plus task-level Evidence and cross-task Telemetry.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3add86916940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67052d8b1a4ccc" /><Relationship Type="http://schemas.openxmlformats.org/officeDocument/2006/relationships/slideLayout" Target="/ppt/slideLayouts/slideLayout1.xml" Id="Re7542451c5c443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542451c5c443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d2df876bb04906" /><Relationship Type="http://schemas.openxmlformats.org/officeDocument/2006/relationships/notesSlide" Target="/ppt/notesSlides/notesSlide1.xml" Id="Rb2a064b83cda47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title">
            <a:extLst xmlns:a="http://schemas.openxmlformats.org/drawingml/2006/main">
              <a:ext uri="{FF2B5EF4-FFF2-40B4-BE49-F238E27FC236}">
                <a16:creationId xmlns:a16="http://schemas.microsoft.com/office/drawing/2014/main" id="{A77F0148-2AFC-4761-B993-1A068A16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101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用一条产品研发价值流，兑现 AI 转型的端到端提效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CAC6857-3AB9-4281-8C96-E979CFA2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不是部署更多 Agent，而是让意图、受控执行、证据与学习在同一条价值流上闭环。</a:t>
            </a:r>
          </a:p>
        </p:txBody>
      </p:sp>
      <p:sp>
        <p:nvSpPr>
          <p:cNvPr id="3" name="thesis">
            <a:extLst xmlns:a="http://schemas.openxmlformats.org/drawingml/2006/main">
              <a:ext uri="{FF2B5EF4-FFF2-40B4-BE49-F238E27FC236}">
                <a16:creationId xmlns:a16="http://schemas.microsoft.com/office/drawing/2014/main" id="{08177534-83B5-4FAC-A3F7-69AEE1CB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109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9525">
            <a:solidFill>
              <a:srgbClr val="10243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hesis-text">
            <a:extLst xmlns:a="http://schemas.openxmlformats.org/drawingml/2006/main">
              <a:ext uri="{FF2B5EF4-FFF2-40B4-BE49-F238E27FC236}">
                <a16:creationId xmlns:a16="http://schemas.microsoft.com/office/drawing/2014/main" id="{B3A87EA2-E71A-404E-846C-5FFD78A5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43000"/>
            <a:ext cx="10620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试点目标：以一条真实产品研发价值流为单位，建立可签署、可运行、可验证、可复用的 AI 原生交付能力。</a:t>
            </a:r>
          </a:p>
        </p:txBody>
      </p:sp>
      <p:sp>
        <p:nvSpPr>
          <p:cNvPr id="5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36BD5434-D569-40D6-9EFA-7F41FCF1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19075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7C159A60-4C01-4369-ACA9-42B33E4E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19075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493353BB-5DA0-4A16-9748-21260CBE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9075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phase-选对价值流">
            <a:extLst xmlns:a="http://schemas.openxmlformats.org/drawingml/2006/main">
              <a:ext uri="{FF2B5EF4-FFF2-40B4-BE49-F238E27FC236}">
                <a16:creationId xmlns:a16="http://schemas.microsoft.com/office/drawing/2014/main" id="{860848E6-B8D9-4E5A-82D3-BC0409AA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62100"/>
            <a:ext cx="24574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B968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phase-time-选对价值流">
            <a:extLst xmlns:a="http://schemas.openxmlformats.org/drawingml/2006/main">
              <a:ext uri="{FF2B5EF4-FFF2-40B4-BE49-F238E27FC236}">
                <a16:creationId xmlns:a16="http://schemas.microsoft.com/office/drawing/2014/main" id="{9A4261FE-4546-4A12-A1BA-1FFBB45A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85925"/>
            <a:ext cx="704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968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6800"/>
                </a:solidFill>
                <a:latin typeface="Helvetica Neue"/>
                <a:ea typeface="Helvetica Neue"/>
                <a:cs typeface="Helvetica Neue"/>
              </a:rPr>
              <a:t>0–2 周</a:t>
            </a:r>
          </a:p>
        </p:txBody>
      </p:sp>
      <p:sp>
        <p:nvSpPr>
          <p:cNvPr id="10" name="phase-title-选对价值流">
            <a:extLst xmlns:a="http://schemas.openxmlformats.org/drawingml/2006/main">
              <a:ext uri="{FF2B5EF4-FFF2-40B4-BE49-F238E27FC236}">
                <a16:creationId xmlns:a16="http://schemas.microsoft.com/office/drawing/2014/main" id="{A6137810-380E-4030-9AF0-842DBD1E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4310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选对价值流</a:t>
            </a:r>
          </a:p>
        </p:txBody>
      </p:sp>
      <p:sp>
        <p:nvSpPr>
          <p:cNvPr id="11" name="phase-body-选对价值流">
            <a:extLst xmlns:a="http://schemas.openxmlformats.org/drawingml/2006/main">
              <a:ext uri="{FF2B5EF4-FFF2-40B4-BE49-F238E27FC236}">
                <a16:creationId xmlns:a16="http://schemas.microsoft.com/office/drawing/2014/main" id="{53D43623-C41C-4E0A-B09D-0B627092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业务结果 + 关键瓶颈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基线、风险与范围</a:t>
            </a:r>
          </a:p>
        </p:txBody>
      </p:sp>
      <p:sp>
        <p:nvSpPr>
          <p:cNvPr id="12" name="phase-跑通受控闭环">
            <a:extLst xmlns:a="http://schemas.openxmlformats.org/drawingml/2006/main">
              <a:ext uri="{FF2B5EF4-FFF2-40B4-BE49-F238E27FC236}">
                <a16:creationId xmlns:a16="http://schemas.microsoft.com/office/drawing/2014/main" id="{0C635379-B86D-44FA-ADAE-361A3546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62100"/>
            <a:ext cx="24574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phase-time-跑通受控闭环">
            <a:extLst xmlns:a="http://schemas.openxmlformats.org/drawingml/2006/main">
              <a:ext uri="{FF2B5EF4-FFF2-40B4-BE49-F238E27FC236}">
                <a16:creationId xmlns:a16="http://schemas.microsoft.com/office/drawing/2014/main" id="{F91B9D37-07C3-4658-BAD1-F86084BF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85925"/>
            <a:ext cx="704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3–5 周</a:t>
            </a:r>
          </a:p>
        </p:txBody>
      </p:sp>
      <p:sp>
        <p:nvSpPr>
          <p:cNvPr id="14" name="phase-title-跑通受控闭环">
            <a:extLst xmlns:a="http://schemas.openxmlformats.org/drawingml/2006/main">
              <a:ext uri="{FF2B5EF4-FFF2-40B4-BE49-F238E27FC236}">
                <a16:creationId xmlns:a16="http://schemas.microsoft.com/office/drawing/2014/main" id="{13676E43-9C6C-496F-9512-8466E0BD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4310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跑通受控闭环</a:t>
            </a:r>
          </a:p>
        </p:txBody>
      </p:sp>
      <p:sp>
        <p:nvSpPr>
          <p:cNvPr id="15" name="phase-body-跑通受控闭环">
            <a:extLst xmlns:a="http://schemas.openxmlformats.org/drawingml/2006/main">
              <a:ext uri="{FF2B5EF4-FFF2-40B4-BE49-F238E27FC236}">
                <a16:creationId xmlns:a16="http://schemas.microsoft.com/office/drawing/2014/main" id="{35F4C2B5-EF10-4ABD-9072-42ABA055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2669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Intent Contract + SCOPE-V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Harness、Prove、Evidence</a:t>
            </a:r>
          </a:p>
        </p:txBody>
      </p:sp>
      <p:sp>
        <p:nvSpPr>
          <p:cNvPr id="16" name="phase-让上下文与经验复利">
            <a:extLst xmlns:a="http://schemas.openxmlformats.org/drawingml/2006/main">
              <a:ext uri="{FF2B5EF4-FFF2-40B4-BE49-F238E27FC236}">
                <a16:creationId xmlns:a16="http://schemas.microsoft.com/office/drawing/2014/main" id="{353B2AFE-7049-4E02-A44F-A1B16966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562100"/>
            <a:ext cx="24574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BFD"/>
          </a:solidFill>
          <a:ln xmlns:a="http://schemas.openxmlformats.org/drawingml/2006/main" w="9525">
            <a:solidFill>
              <a:srgbClr val="11B9D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phase-time-让上下文与经验复利">
            <a:extLst xmlns:a="http://schemas.openxmlformats.org/drawingml/2006/main">
              <a:ext uri="{FF2B5EF4-FFF2-40B4-BE49-F238E27FC236}">
                <a16:creationId xmlns:a16="http://schemas.microsoft.com/office/drawing/2014/main" id="{4795756C-AD9C-4ED4-99D9-A1465502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85925"/>
            <a:ext cx="704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B9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1B9D6"/>
                </a:solidFill>
                <a:latin typeface="Helvetica Neue"/>
                <a:ea typeface="Helvetica Neue"/>
                <a:cs typeface="Helvetica Neue"/>
              </a:rPr>
              <a:t>6–9 周</a:t>
            </a:r>
          </a:p>
        </p:txBody>
      </p:sp>
      <p:sp>
        <p:nvSpPr>
          <p:cNvPr id="18" name="phase-title-让上下文与经验复利">
            <a:extLst xmlns:a="http://schemas.openxmlformats.org/drawingml/2006/main">
              <a:ext uri="{FF2B5EF4-FFF2-40B4-BE49-F238E27FC236}">
                <a16:creationId xmlns:a16="http://schemas.microsoft.com/office/drawing/2014/main" id="{069FBF3F-54F7-4DA5-8EF5-510335A6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4310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让上下文与经验复利</a:t>
            </a:r>
          </a:p>
        </p:txBody>
      </p:sp>
      <p:sp>
        <p:nvSpPr>
          <p:cNvPr id="19" name="phase-body-让上下文与经验复利">
            <a:extLst xmlns:a="http://schemas.openxmlformats.org/drawingml/2006/main">
              <a:ext uri="{FF2B5EF4-FFF2-40B4-BE49-F238E27FC236}">
                <a16:creationId xmlns:a16="http://schemas.microsoft.com/office/drawing/2014/main" id="{D2934DE8-C0FA-4554-8CC7-8DE8AF77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2669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045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IWE 文档地图 + Code Map（双地图）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Evidence → Basic / Agent Memory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验证晋升 → 规则 / 测试 / Skill</a:t>
            </a:r>
          </a:p>
        </p:txBody>
      </p:sp>
      <p:sp>
        <p:nvSpPr>
          <p:cNvPr id="20" name="phase-扩大可复制能力">
            <a:extLst xmlns:a="http://schemas.openxmlformats.org/drawingml/2006/main">
              <a:ext uri="{FF2B5EF4-FFF2-40B4-BE49-F238E27FC236}">
                <a16:creationId xmlns:a16="http://schemas.microsoft.com/office/drawing/2014/main" id="{96900311-217B-46C6-8D3F-3F77CABF7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562100"/>
            <a:ext cx="24574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CF8F3"/>
          </a:solidFill>
          <a:ln xmlns:a="http://schemas.openxmlformats.org/drawingml/2006/main" w="9525">
            <a:solidFill>
              <a:srgbClr val="1683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phase-time-扩大可复制能力">
            <a:extLst xmlns:a="http://schemas.openxmlformats.org/drawingml/2006/main">
              <a:ext uri="{FF2B5EF4-FFF2-40B4-BE49-F238E27FC236}">
                <a16:creationId xmlns:a16="http://schemas.microsoft.com/office/drawing/2014/main" id="{B76CBDCE-671D-4550-BF54-928D784F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685925"/>
            <a:ext cx="704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683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835C"/>
                </a:solidFill>
                <a:latin typeface="Helvetica Neue"/>
                <a:ea typeface="Helvetica Neue"/>
                <a:cs typeface="Helvetica Neue"/>
              </a:rPr>
              <a:t>10–12 周</a:t>
            </a:r>
          </a:p>
        </p:txBody>
      </p:sp>
      <p:sp>
        <p:nvSpPr>
          <p:cNvPr id="22" name="phase-title-扩大可复制能力">
            <a:extLst xmlns:a="http://schemas.openxmlformats.org/drawingml/2006/main">
              <a:ext uri="{FF2B5EF4-FFF2-40B4-BE49-F238E27FC236}">
                <a16:creationId xmlns:a16="http://schemas.microsoft.com/office/drawing/2014/main" id="{25133BC5-9E71-429A-AD51-8976D50F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94310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扩大可复制能力</a:t>
            </a:r>
          </a:p>
        </p:txBody>
      </p:sp>
      <p:sp>
        <p:nvSpPr>
          <p:cNvPr id="23" name="phase-body-扩大可复制能力">
            <a:extLst xmlns:a="http://schemas.openxmlformats.org/drawingml/2006/main">
              <a:ext uri="{FF2B5EF4-FFF2-40B4-BE49-F238E27FC236}">
                <a16:creationId xmlns:a16="http://schemas.microsoft.com/office/drawing/2014/main" id="{FD9C8F46-E07D-4F27-92A4-F07FFE1F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669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标准、技能与授权扩展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Telemetry 支持扩大或收缩</a:t>
            </a:r>
          </a:p>
        </p:txBody>
      </p:sp>
      <p:sp>
        <p:nvSpPr>
          <p:cNvPr id="24" name="four-dim-title">
            <a:extLst xmlns:a="http://schemas.openxmlformats.org/drawingml/2006/main">
              <a:ext uri="{FF2B5EF4-FFF2-40B4-BE49-F238E27FC236}">
                <a16:creationId xmlns:a16="http://schemas.microsoft.com/office/drawing/2014/main" id="{D40CD4B9-D254-42D7-9798-DC2AD4AE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71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四维必须同时改变，但每一步只改造本轮闭环所需的最小部分</a:t>
            </a:r>
          </a:p>
        </p:txBody>
      </p:sp>
      <p:sp>
        <p:nvSpPr>
          <p:cNvPr id="25" name="rail-人员">
            <a:extLst xmlns:a="http://schemas.openxmlformats.org/drawingml/2006/main">
              <a:ext uri="{FF2B5EF4-FFF2-40B4-BE49-F238E27FC236}">
                <a16:creationId xmlns:a16="http://schemas.microsoft.com/office/drawing/2014/main" id="{04054885-7DE1-4E4E-9783-6956EDCC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76600"/>
            <a:ext cx="1101090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ail-chip-人员">
            <a:extLst xmlns:a="http://schemas.openxmlformats.org/drawingml/2006/main">
              <a:ext uri="{FF2B5EF4-FFF2-40B4-BE49-F238E27FC236}">
                <a16:creationId xmlns:a16="http://schemas.microsoft.com/office/drawing/2014/main" id="{5035838D-CA26-4075-9ADC-00CD848A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76600"/>
            <a:ext cx="106680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B96800"/>
          </a:solidFill>
          <a:ln xmlns:a="http://schemas.openxmlformats.org/drawingml/2006/main" w="9525">
            <a:solidFill>
              <a:srgbClr val="B968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ail-label-人员">
            <a:extLst xmlns:a="http://schemas.openxmlformats.org/drawingml/2006/main">
              <a:ext uri="{FF2B5EF4-FFF2-40B4-BE49-F238E27FC236}">
                <a16:creationId xmlns:a16="http://schemas.microsoft.com/office/drawing/2014/main" id="{C2D741C6-4ED4-448F-8186-326D11E6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52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人员</a:t>
            </a:r>
          </a:p>
        </p:txBody>
      </p:sp>
      <p:sp>
        <p:nvSpPr>
          <p:cNvPr id="28" name="rail-body-人员">
            <a:extLst xmlns:a="http://schemas.openxmlformats.org/drawingml/2006/main">
              <a:ext uri="{FF2B5EF4-FFF2-40B4-BE49-F238E27FC236}">
                <a16:creationId xmlns:a16="http://schemas.microsoft.com/office/drawing/2014/main" id="{BFDEE142-A79D-469E-86F2-AB5B4E6F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3432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IO / OA / AS：人从重复执行转向意图定义、控制设计、异常裁决与责任签署。</a:t>
            </a:r>
          </a:p>
        </p:txBody>
      </p:sp>
      <p:sp>
        <p:nvSpPr>
          <p:cNvPr id="29" name="rail-组织">
            <a:extLst xmlns:a="http://schemas.openxmlformats.org/drawingml/2006/main">
              <a:ext uri="{FF2B5EF4-FFF2-40B4-BE49-F238E27FC236}">
                <a16:creationId xmlns:a16="http://schemas.microsoft.com/office/drawing/2014/main" id="{88916D52-20F6-4DCA-9047-418E4B79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86175"/>
            <a:ext cx="1101090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rail-chip-组织">
            <a:extLst xmlns:a="http://schemas.openxmlformats.org/drawingml/2006/main">
              <a:ext uri="{FF2B5EF4-FFF2-40B4-BE49-F238E27FC236}">
                <a16:creationId xmlns:a16="http://schemas.microsoft.com/office/drawing/2014/main" id="{8E5453AA-B53B-4084-B346-25BE82C0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86175"/>
            <a:ext cx="106680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rail-label-组织">
            <a:extLst xmlns:a="http://schemas.openxmlformats.org/drawingml/2006/main">
              <a:ext uri="{FF2B5EF4-FFF2-40B4-BE49-F238E27FC236}">
                <a16:creationId xmlns:a16="http://schemas.microsoft.com/office/drawing/2014/main" id="{DF8DA90B-1202-484E-B0D6-87241B5A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组织</a:t>
            </a:r>
          </a:p>
        </p:txBody>
      </p:sp>
      <p:sp>
        <p:nvSpPr>
          <p:cNvPr id="32" name="rail-body-组织">
            <a:extLst xmlns:a="http://schemas.openxmlformats.org/drawingml/2006/main">
              <a:ext uri="{FF2B5EF4-FFF2-40B4-BE49-F238E27FC236}">
                <a16:creationId xmlns:a16="http://schemas.microsoft.com/office/drawing/2014/main" id="{6A8C4915-43E9-43CA-AA40-EC4683F9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7528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围绕价值流形成最小责任单元；决策权前移，越界、冲突与不可逆行动有明确去处。</a:t>
            </a:r>
          </a:p>
        </p:txBody>
      </p:sp>
      <p:sp>
        <p:nvSpPr>
          <p:cNvPr id="33" name="rail-流程">
            <a:extLst xmlns:a="http://schemas.openxmlformats.org/drawingml/2006/main">
              <a:ext uri="{FF2B5EF4-FFF2-40B4-BE49-F238E27FC236}">
                <a16:creationId xmlns:a16="http://schemas.microsoft.com/office/drawing/2014/main" id="{54BC8370-C66B-47A6-8F75-66E77B11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95750"/>
            <a:ext cx="1101090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rail-chip-流程">
            <a:extLst xmlns:a="http://schemas.openxmlformats.org/drawingml/2006/main">
              <a:ext uri="{FF2B5EF4-FFF2-40B4-BE49-F238E27FC236}">
                <a16:creationId xmlns:a16="http://schemas.microsoft.com/office/drawing/2014/main" id="{F9FD4851-5095-4319-95DE-1BF94CA1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95750"/>
            <a:ext cx="106680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11B9D6"/>
          </a:solidFill>
          <a:ln xmlns:a="http://schemas.openxmlformats.org/drawingml/2006/main" w="9525">
            <a:solidFill>
              <a:srgbClr val="11B9D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rail-label-流程">
            <a:extLst xmlns:a="http://schemas.openxmlformats.org/drawingml/2006/main">
              <a:ext uri="{FF2B5EF4-FFF2-40B4-BE49-F238E27FC236}">
                <a16:creationId xmlns:a16="http://schemas.microsoft.com/office/drawing/2014/main" id="{E2D8590A-82DD-4180-9F52-EB5E96DD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流程</a:t>
            </a:r>
          </a:p>
        </p:txBody>
      </p:sp>
      <p:sp>
        <p:nvSpPr>
          <p:cNvPr id="36" name="rail-body-流程">
            <a:extLst xmlns:a="http://schemas.openxmlformats.org/drawingml/2006/main">
              <a:ext uri="{FF2B5EF4-FFF2-40B4-BE49-F238E27FC236}">
                <a16:creationId xmlns:a16="http://schemas.microsoft.com/office/drawing/2014/main" id="{35190C33-C0DD-4575-8B05-8CB9BD70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624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SCOPE-V：机器快内环持续执行、验证与修复；人类责任外环负责边界、例外、发布与扩大。</a:t>
            </a:r>
          </a:p>
        </p:txBody>
      </p:sp>
      <p:sp>
        <p:nvSpPr>
          <p:cNvPr id="37" name="rail-工具">
            <a:extLst xmlns:a="http://schemas.openxmlformats.org/drawingml/2006/main">
              <a:ext uri="{FF2B5EF4-FFF2-40B4-BE49-F238E27FC236}">
                <a16:creationId xmlns:a16="http://schemas.microsoft.com/office/drawing/2014/main" id="{B5BC94AD-E29A-4791-9EF3-0D08E8A3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05325"/>
            <a:ext cx="1101090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rail-chip-工具">
            <a:extLst xmlns:a="http://schemas.openxmlformats.org/drawingml/2006/main">
              <a:ext uri="{FF2B5EF4-FFF2-40B4-BE49-F238E27FC236}">
                <a16:creationId xmlns:a16="http://schemas.microsoft.com/office/drawing/2014/main" id="{6DDCB258-B649-4C44-AE42-C43E6528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05325"/>
            <a:ext cx="106680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16835C"/>
          </a:solidFill>
          <a:ln xmlns:a="http://schemas.openxmlformats.org/drawingml/2006/main" w="9525">
            <a:solidFill>
              <a:srgbClr val="1683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rail-label-工具">
            <a:extLst xmlns:a="http://schemas.openxmlformats.org/drawingml/2006/main">
              <a:ext uri="{FF2B5EF4-FFF2-40B4-BE49-F238E27FC236}">
                <a16:creationId xmlns:a16="http://schemas.microsoft.com/office/drawing/2014/main" id="{A65A4E05-8F44-4F50-8739-883D9B7F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815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工具</a:t>
            </a:r>
          </a:p>
        </p:txBody>
      </p:sp>
      <p:sp>
        <p:nvSpPr>
          <p:cNvPr id="40" name="rail-body-工具">
            <a:extLst xmlns:a="http://schemas.openxmlformats.org/drawingml/2006/main">
              <a:ext uri="{FF2B5EF4-FFF2-40B4-BE49-F238E27FC236}">
                <a16:creationId xmlns:a16="http://schemas.microsoft.com/office/drawing/2014/main" id="{0E3956A2-EF2B-448E-8E80-848C54AB9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5720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Context + Orchestration + Harness + Evidence + Telemetry：把规则、状态、权限和事实嵌入日常工作。</a:t>
            </a:r>
          </a:p>
        </p:txBody>
      </p:sp>
      <p:sp>
        <p:nvSpPr>
          <p:cNvPr id="41" name="outcome-panel">
            <a:extLst xmlns:a="http://schemas.openxmlformats.org/drawingml/2006/main">
              <a:ext uri="{FF2B5EF4-FFF2-40B4-BE49-F238E27FC236}">
                <a16:creationId xmlns:a16="http://schemas.microsoft.com/office/drawing/2014/main" id="{7F38DC27-B160-426B-B91F-0DFA09BF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67300"/>
            <a:ext cx="5181600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outcome-head">
            <a:extLst xmlns:a="http://schemas.openxmlformats.org/drawingml/2006/main">
              <a:ext uri="{FF2B5EF4-FFF2-40B4-BE49-F238E27FC236}">
                <a16:creationId xmlns:a16="http://schemas.microsoft.com/office/drawing/2014/main" id="{E59FE4F8-2A8E-4BFD-9B1D-29EEE85E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180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将取得什么成果</a:t>
            </a:r>
          </a:p>
        </p:txBody>
      </p:sp>
      <p:sp>
        <p:nvSpPr>
          <p:cNvPr id="43" name="outcome-body">
            <a:extLst xmlns:a="http://schemas.openxmlformats.org/drawingml/2006/main">
              <a:ext uri="{FF2B5EF4-FFF2-40B4-BE49-F238E27FC236}">
                <a16:creationId xmlns:a16="http://schemas.microsoft.com/office/drawing/2014/main" id="{B39B1606-1547-4E2A-9240-10552CD8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14975"/>
            <a:ext cx="4667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端到端周期缩短  ·  首次通过率提升  ·  返工与等待下降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人类判断集中到价值与风险节点  ·  可复用上下文、规则、测试与 Skill 持续累积</a:t>
            </a:r>
          </a:p>
        </p:txBody>
      </p:sp>
      <p:sp>
        <p:nvSpPr>
          <p:cNvPr id="44" name="proof-panel">
            <a:extLst xmlns:a="http://schemas.openxmlformats.org/drawingml/2006/main">
              <a:ext uri="{FF2B5EF4-FFF2-40B4-BE49-F238E27FC236}">
                <a16:creationId xmlns:a16="http://schemas.microsoft.com/office/drawing/2014/main" id="{DBB8875E-9C02-4D8B-BF8A-B50D2325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067300"/>
            <a:ext cx="5581650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proof-head">
            <a:extLst xmlns:a="http://schemas.openxmlformats.org/drawingml/2006/main">
              <a:ext uri="{FF2B5EF4-FFF2-40B4-BE49-F238E27FC236}">
                <a16:creationId xmlns:a16="http://schemas.microsoft.com/office/drawing/2014/main" id="{63C9B8AA-9029-4525-8221-182DD24C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19700"/>
            <a:ext cx="247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如何度量并证明成果</a:t>
            </a:r>
          </a:p>
        </p:txBody>
      </p:sp>
      <p:sp>
        <p:nvSpPr>
          <p:cNvPr id="46" name="proof-body">
            <a:extLst xmlns:a="http://schemas.openxmlformats.org/drawingml/2006/main">
              <a:ext uri="{FF2B5EF4-FFF2-40B4-BE49-F238E27FC236}">
                <a16:creationId xmlns:a16="http://schemas.microsoft.com/office/drawing/2014/main" id="{14C9C814-8CEE-4FC3-8388-0E8FBCE3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514975"/>
            <a:ext cx="5124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同类任务、同一风险边界：试点前基线 vs. 试点后趋势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业务价值｜工程质量｜自治健康｜人机成本  ←  Intent Contract + Evidence Bundle + Telemetry</a:t>
            </a:r>
          </a:p>
        </p:txBody>
      </p:sp>
      <p:sp>
        <p:nvSpPr>
          <p:cNvPr id="47" name="footer">
            <a:extLst xmlns:a="http://schemas.openxmlformats.org/drawingml/2006/main">
              <a:ext uri="{FF2B5EF4-FFF2-40B4-BE49-F238E27FC236}">
                <a16:creationId xmlns:a16="http://schemas.microsoft.com/office/drawing/2014/main" id="{52EEF19E-745F-4146-B0E2-17E9B0FD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9525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E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E7E92"/>
                </a:solidFill>
                <a:latin typeface="Helvetica Neue"/>
                <a:ea typeface="Helvetica Neue"/>
                <a:cs typeface="Helvetica Neue"/>
              </a:rPr>
              <a:t>Agentic Agile｜以真实价值流证明 AI 转型，而非用代码生成率宣布成功</a:t>
            </a:r>
          </a:p>
        </p:txBody>
      </p:sp>
    </p:spTree>
    <p:extLst>
      <p:ext uri="{BB962C8B-B14F-4D97-AF65-F5344CB8AC3E}">
        <p14:creationId xmlns:p14="http://schemas.microsoft.com/office/powerpoint/2010/main" val="10841187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2026-08-26T01:57:18.8050000Z</dcterms:created>
  <dcterms:modified xsi:type="dcterms:W3CDTF">2026-08-26T01:57:18.8050000Z</dcterms:modified>
</coreProperties>
</file>